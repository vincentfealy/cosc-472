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Anton"/>
      <p:regular r:id="rId17"/>
    </p:embeddedFont>
    <p:embeddedFont>
      <p:font typeface="Poppins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pjJUR2qdNkzKerzWe1RM8IzIA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nton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Medium-bold.fntdata"/><Relationship Id="rId6" Type="http://schemas.openxmlformats.org/officeDocument/2006/relationships/slide" Target="slides/slide1.xml"/><Relationship Id="rId18" Type="http://schemas.openxmlformats.org/officeDocument/2006/relationships/font" Target="fonts/Poppins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0b381d369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0b381d36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Relationship Id="rId4" Type="http://schemas.openxmlformats.org/officeDocument/2006/relationships/image" Target="../media/image2.png"/><Relationship Id="rId5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2.png"/><Relationship Id="rId5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71952"/>
            </a:gs>
            <a:gs pos="100000">
              <a:srgbClr val="088395"/>
            </a:gs>
          </a:gsLst>
          <a:lin ang="27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40027" y="-38046"/>
            <a:ext cx="5866302" cy="3798431"/>
          </a:xfrm>
          <a:custGeom>
            <a:rect b="b" l="l" r="r" t="t"/>
            <a:pathLst>
              <a:path extrusionOk="0" h="3798431" w="5866302">
                <a:moveTo>
                  <a:pt x="0" y="0"/>
                </a:moveTo>
                <a:lnTo>
                  <a:pt x="5866302" y="0"/>
                </a:lnTo>
                <a:lnTo>
                  <a:pt x="5866302" y="3798431"/>
                </a:lnTo>
                <a:lnTo>
                  <a:pt x="0" y="3798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5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-2357541" y="1663134"/>
            <a:ext cx="14680177" cy="6886927"/>
            <a:chOff x="3529" y="-38100"/>
            <a:chExt cx="1570137" cy="736600"/>
          </a:xfrm>
        </p:grpSpPr>
        <p:sp>
          <p:nvSpPr>
            <p:cNvPr id="86" name="Google Shape;86;p1"/>
            <p:cNvSpPr/>
            <p:nvPr/>
          </p:nvSpPr>
          <p:spPr>
            <a:xfrm>
              <a:off x="3529" y="0"/>
              <a:ext cx="1570137" cy="698500"/>
            </a:xfrm>
            <a:custGeom>
              <a:rect b="b" l="l" r="r" t="t"/>
              <a:pathLst>
                <a:path extrusionOk="0" h="698500" w="1570137">
                  <a:moveTo>
                    <a:pt x="1564424" y="365133"/>
                  </a:moveTo>
                  <a:lnTo>
                    <a:pt x="1379706" y="682617"/>
                  </a:lnTo>
                  <a:cubicBezTo>
                    <a:pt x="1373984" y="692451"/>
                    <a:pt x="1363466" y="698500"/>
                    <a:pt x="1352089" y="698500"/>
                  </a:cubicBezTo>
                  <a:lnTo>
                    <a:pt x="218046" y="698500"/>
                  </a:lnTo>
                  <a:cubicBezTo>
                    <a:pt x="206670" y="698500"/>
                    <a:pt x="196151" y="692451"/>
                    <a:pt x="190430" y="682617"/>
                  </a:cubicBezTo>
                  <a:lnTo>
                    <a:pt x="5712" y="365133"/>
                  </a:lnTo>
                  <a:cubicBezTo>
                    <a:pt x="0" y="355315"/>
                    <a:pt x="0" y="343185"/>
                    <a:pt x="5712" y="333367"/>
                  </a:cubicBezTo>
                  <a:lnTo>
                    <a:pt x="190430" y="15883"/>
                  </a:lnTo>
                  <a:cubicBezTo>
                    <a:pt x="196151" y="6049"/>
                    <a:pt x="206670" y="0"/>
                    <a:pt x="218046" y="0"/>
                  </a:cubicBezTo>
                  <a:lnTo>
                    <a:pt x="1352089" y="0"/>
                  </a:lnTo>
                  <a:cubicBezTo>
                    <a:pt x="1363466" y="0"/>
                    <a:pt x="1373984" y="6049"/>
                    <a:pt x="1379706" y="15883"/>
                  </a:cubicBezTo>
                  <a:lnTo>
                    <a:pt x="1564424" y="333367"/>
                  </a:lnTo>
                  <a:cubicBezTo>
                    <a:pt x="1570136" y="343185"/>
                    <a:pt x="1570136" y="355315"/>
                    <a:pt x="1564424" y="365133"/>
                  </a:cubicBezTo>
                  <a:close/>
                </a:path>
              </a:pathLst>
            </a:custGeom>
            <a:gradFill>
              <a:gsLst>
                <a:gs pos="0">
                  <a:srgbClr val="088395"/>
                </a:gs>
                <a:gs pos="100000">
                  <a:srgbClr val="07195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114300" y="-38100"/>
              <a:ext cx="1348594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-836227" y="5220853"/>
            <a:ext cx="11637541" cy="1234528"/>
            <a:chOff x="1915" y="-38100"/>
            <a:chExt cx="6943720" cy="736600"/>
          </a:xfrm>
        </p:grpSpPr>
        <p:sp>
          <p:nvSpPr>
            <p:cNvPr id="89" name="Google Shape;89;p1"/>
            <p:cNvSpPr/>
            <p:nvPr/>
          </p:nvSpPr>
          <p:spPr>
            <a:xfrm>
              <a:off x="1915" y="0"/>
              <a:ext cx="6943720" cy="698500"/>
            </a:xfrm>
            <a:custGeom>
              <a:rect b="b" l="l" r="r" t="t"/>
              <a:pathLst>
                <a:path extrusionOk="0" h="698500" w="6943720">
                  <a:moveTo>
                    <a:pt x="6940620" y="357870"/>
                  </a:moveTo>
                  <a:lnTo>
                    <a:pt x="6747451" y="689880"/>
                  </a:lnTo>
                  <a:cubicBezTo>
                    <a:pt x="6744345" y="695217"/>
                    <a:pt x="6738636" y="698500"/>
                    <a:pt x="6732462" y="698500"/>
                  </a:cubicBezTo>
                  <a:lnTo>
                    <a:pt x="211258" y="698500"/>
                  </a:lnTo>
                  <a:cubicBezTo>
                    <a:pt x="205084" y="698500"/>
                    <a:pt x="199375" y="695217"/>
                    <a:pt x="196269" y="689880"/>
                  </a:cubicBezTo>
                  <a:lnTo>
                    <a:pt x="3101" y="357870"/>
                  </a:lnTo>
                  <a:cubicBezTo>
                    <a:pt x="0" y="352542"/>
                    <a:pt x="0" y="345958"/>
                    <a:pt x="3101" y="340630"/>
                  </a:cubicBezTo>
                  <a:lnTo>
                    <a:pt x="196269" y="8620"/>
                  </a:lnTo>
                  <a:cubicBezTo>
                    <a:pt x="199375" y="3283"/>
                    <a:pt x="205084" y="0"/>
                    <a:pt x="211258" y="0"/>
                  </a:cubicBezTo>
                  <a:lnTo>
                    <a:pt x="6732462" y="0"/>
                  </a:lnTo>
                  <a:cubicBezTo>
                    <a:pt x="6738636" y="0"/>
                    <a:pt x="6744345" y="3283"/>
                    <a:pt x="6747451" y="8620"/>
                  </a:cubicBezTo>
                  <a:lnTo>
                    <a:pt x="6940620" y="340630"/>
                  </a:lnTo>
                  <a:cubicBezTo>
                    <a:pt x="6943720" y="345958"/>
                    <a:pt x="6943720" y="352542"/>
                    <a:pt x="6940620" y="357870"/>
                  </a:cubicBezTo>
                  <a:close/>
                </a:path>
              </a:pathLst>
            </a:custGeom>
            <a:gradFill>
              <a:gsLst>
                <a:gs pos="0">
                  <a:srgbClr val="071952"/>
                </a:gs>
                <a:gs pos="100000">
                  <a:srgbClr val="088395">
                    <a:alpha val="0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114300" y="-38100"/>
              <a:ext cx="6718950" cy="7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COSC 472 Network Security</a:t>
              </a:r>
              <a:endParaRPr/>
            </a:p>
          </p:txBody>
        </p:sp>
      </p:grpSp>
      <p:sp>
        <p:nvSpPr>
          <p:cNvPr id="91" name="Google Shape;91;p1"/>
          <p:cNvSpPr/>
          <p:nvPr/>
        </p:nvSpPr>
        <p:spPr>
          <a:xfrm>
            <a:off x="8803840" y="2862826"/>
            <a:ext cx="11124133" cy="4276026"/>
          </a:xfrm>
          <a:custGeom>
            <a:rect b="b" l="l" r="r" t="t"/>
            <a:pathLst>
              <a:path extrusionOk="0" h="4276026" w="11124133">
                <a:moveTo>
                  <a:pt x="0" y="0"/>
                </a:moveTo>
                <a:lnTo>
                  <a:pt x="11124133" y="0"/>
                </a:lnTo>
                <a:lnTo>
                  <a:pt x="11124133" y="4276026"/>
                </a:lnTo>
                <a:lnTo>
                  <a:pt x="0" y="42760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319" r="-1319" t="0"/>
            </a:stretch>
          </a:blipFill>
          <a:ln>
            <a:noFill/>
          </a:ln>
        </p:spPr>
      </p:sp>
      <p:sp>
        <p:nvSpPr>
          <p:cNvPr id="92" name="Google Shape;92;p1"/>
          <p:cNvSpPr txBox="1"/>
          <p:nvPr/>
        </p:nvSpPr>
        <p:spPr>
          <a:xfrm>
            <a:off x="3657780" y="7289847"/>
            <a:ext cx="2250791" cy="313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By: Vincent Fealy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762511" y="2419564"/>
            <a:ext cx="8041329" cy="2581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Colonial Pipeline Ransomware Attack</a:t>
            </a:r>
            <a:endParaRPr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6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(2021)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5142511" y="2609629"/>
            <a:ext cx="12514635" cy="1733000"/>
            <a:chOff x="0" y="-38100"/>
            <a:chExt cx="3296036" cy="45642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3296036" cy="418328"/>
            </a:xfrm>
            <a:custGeom>
              <a:rect b="b" l="l" r="r" t="t"/>
              <a:pathLst>
                <a:path extrusionOk="0" h="418328" w="3296036">
                  <a:moveTo>
                    <a:pt x="0" y="0"/>
                  </a:moveTo>
                  <a:lnTo>
                    <a:pt x="3296036" y="0"/>
                  </a:lnTo>
                  <a:lnTo>
                    <a:pt x="3296036" y="418328"/>
                  </a:lnTo>
                  <a:lnTo>
                    <a:pt x="0" y="418328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40784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38100"/>
              <a:ext cx="3296036" cy="4564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0" y="3751597"/>
            <a:ext cx="18502431" cy="2971250"/>
            <a:chOff x="0" y="-38100"/>
            <a:chExt cx="4873068" cy="782551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873068" cy="744451"/>
            </a:xfrm>
            <a:custGeom>
              <a:rect b="b" l="l" r="r" t="t"/>
              <a:pathLst>
                <a:path extrusionOk="0" h="744451" w="4873068">
                  <a:moveTo>
                    <a:pt x="0" y="0"/>
                  </a:moveTo>
                  <a:lnTo>
                    <a:pt x="4873068" y="0"/>
                  </a:lnTo>
                  <a:lnTo>
                    <a:pt x="4873068" y="744451"/>
                  </a:lnTo>
                  <a:lnTo>
                    <a:pt x="0" y="744451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40784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38100"/>
              <a:ext cx="4873068" cy="78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622788" y="1568080"/>
            <a:ext cx="5802923" cy="4114800"/>
          </a:xfrm>
          <a:custGeom>
            <a:rect b="b" l="l" r="r" t="t"/>
            <a:pathLst>
              <a:path extrusionOk="0" h="4114800" w="5802923">
                <a:moveTo>
                  <a:pt x="0" y="0"/>
                </a:moveTo>
                <a:lnTo>
                  <a:pt x="5802924" y="0"/>
                </a:lnTo>
                <a:lnTo>
                  <a:pt x="58029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" name="Google Shape;106;p2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9508753" y="4713643"/>
            <a:ext cx="6915150" cy="343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Colonial Pipeline ransomware attack, which occurred in May 2021, was one of the most disruptive attacks on critical infrastructure in the United States.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 this case is important: The attack highlighted the vulnerabilities of essential services to cyberattacks and led to widespread disruptions across the East Coast.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329240" y="2865068"/>
            <a:ext cx="5274176" cy="13684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2045344" y="2756423"/>
            <a:ext cx="7205871" cy="4028740"/>
          </a:xfrm>
          <a:custGeom>
            <a:rect b="b" l="l" r="r" t="t"/>
            <a:pathLst>
              <a:path extrusionOk="0" h="4028740" w="7205871">
                <a:moveTo>
                  <a:pt x="0" y="0"/>
                </a:moveTo>
                <a:lnTo>
                  <a:pt x="7205871" y="0"/>
                </a:lnTo>
                <a:lnTo>
                  <a:pt x="7205871" y="4028740"/>
                </a:lnTo>
                <a:lnTo>
                  <a:pt x="0" y="4028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08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118" name="Google Shape;118;p3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0" name="Google Shape;120;p3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3"/>
          <p:cNvGrpSpPr/>
          <p:nvPr/>
        </p:nvGrpSpPr>
        <p:grpSpPr>
          <a:xfrm>
            <a:off x="1304154" y="2362312"/>
            <a:ext cx="8748831" cy="2674771"/>
            <a:chOff x="0" y="-38100"/>
            <a:chExt cx="2304219" cy="704466"/>
          </a:xfrm>
        </p:grpSpPr>
        <p:sp>
          <p:nvSpPr>
            <p:cNvPr id="122" name="Google Shape;122;p3"/>
            <p:cNvSpPr/>
            <p:nvPr/>
          </p:nvSpPr>
          <p:spPr>
            <a:xfrm>
              <a:off x="0" y="0"/>
              <a:ext cx="2304219" cy="666366"/>
            </a:xfrm>
            <a:custGeom>
              <a:rect b="b" l="l" r="r" t="t"/>
              <a:pathLst>
                <a:path extrusionOk="0" h="666366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66366"/>
                  </a:lnTo>
                  <a:lnTo>
                    <a:pt x="0" y="666366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40784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3" name="Google Shape;123;p3"/>
            <p:cNvSpPr txBox="1"/>
            <p:nvPr/>
          </p:nvSpPr>
          <p:spPr>
            <a:xfrm>
              <a:off x="0" y="-38100"/>
              <a:ext cx="2304219" cy="704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3"/>
          <p:cNvGrpSpPr/>
          <p:nvPr/>
        </p:nvGrpSpPr>
        <p:grpSpPr>
          <a:xfrm>
            <a:off x="1304154" y="5589770"/>
            <a:ext cx="8748831" cy="2742650"/>
            <a:chOff x="0" y="-38100"/>
            <a:chExt cx="2304219" cy="722344"/>
          </a:xfrm>
        </p:grpSpPr>
        <p:sp>
          <p:nvSpPr>
            <p:cNvPr id="125" name="Google Shape;125;p3"/>
            <p:cNvSpPr/>
            <p:nvPr/>
          </p:nvSpPr>
          <p:spPr>
            <a:xfrm>
              <a:off x="0" y="0"/>
              <a:ext cx="2304219" cy="684244"/>
            </a:xfrm>
            <a:custGeom>
              <a:rect b="b" l="l" r="r" t="t"/>
              <a:pathLst>
                <a:path extrusionOk="0" h="684244" w="2304219">
                  <a:moveTo>
                    <a:pt x="0" y="0"/>
                  </a:moveTo>
                  <a:lnTo>
                    <a:pt x="2304219" y="0"/>
                  </a:lnTo>
                  <a:lnTo>
                    <a:pt x="2304219" y="684244"/>
                  </a:lnTo>
                  <a:lnTo>
                    <a:pt x="0" y="684244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40784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6" name="Google Shape;126;p3"/>
            <p:cNvSpPr txBox="1"/>
            <p:nvPr/>
          </p:nvSpPr>
          <p:spPr>
            <a:xfrm>
              <a:off x="0" y="-38100"/>
              <a:ext cx="2304219" cy="7223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3"/>
          <p:cNvGrpSpPr/>
          <p:nvPr/>
        </p:nvGrpSpPr>
        <p:grpSpPr>
          <a:xfrm>
            <a:off x="10842362" y="3194487"/>
            <a:ext cx="7561635" cy="3085550"/>
            <a:chOff x="0" y="-38100"/>
            <a:chExt cx="1991542" cy="812655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1991542" cy="774555"/>
            </a:xfrm>
            <a:custGeom>
              <a:rect b="b" l="l" r="r" t="t"/>
              <a:pathLst>
                <a:path extrusionOk="0" h="774555" w="1991542">
                  <a:moveTo>
                    <a:pt x="0" y="0"/>
                  </a:moveTo>
                  <a:lnTo>
                    <a:pt x="1991542" y="0"/>
                  </a:lnTo>
                  <a:lnTo>
                    <a:pt x="1991542" y="774555"/>
                  </a:lnTo>
                  <a:lnTo>
                    <a:pt x="0" y="77455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0784"/>
                  </a:srgbClr>
                </a:gs>
                <a:gs pos="100000">
                  <a:srgbClr val="000000">
                    <a:alpha val="40784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38100"/>
              <a:ext cx="1991542" cy="812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"/>
          <p:cNvSpPr/>
          <p:nvPr/>
        </p:nvSpPr>
        <p:spPr>
          <a:xfrm>
            <a:off x="15250529" y="7143262"/>
            <a:ext cx="4017541" cy="4114800"/>
          </a:xfrm>
          <a:custGeom>
            <a:rect b="b" l="l" r="r" t="t"/>
            <a:pathLst>
              <a:path extrusionOk="0" h="4114800" w="4017541">
                <a:moveTo>
                  <a:pt x="0" y="0"/>
                </a:moveTo>
                <a:lnTo>
                  <a:pt x="4017542" y="0"/>
                </a:lnTo>
                <a:lnTo>
                  <a:pt x="40175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1" name="Google Shape;131;p3"/>
          <p:cNvGrpSpPr/>
          <p:nvPr/>
        </p:nvGrpSpPr>
        <p:grpSpPr>
          <a:xfrm>
            <a:off x="1962150" y="1904106"/>
            <a:ext cx="345440" cy="490101"/>
            <a:chOff x="0" y="-38100"/>
            <a:chExt cx="90980" cy="12908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133" name="Google Shape;133;p3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1962150" y="5131564"/>
            <a:ext cx="345440" cy="490101"/>
            <a:chOff x="0" y="-38100"/>
            <a:chExt cx="90980" cy="129080"/>
          </a:xfrm>
        </p:grpSpPr>
        <p:sp>
          <p:nvSpPr>
            <p:cNvPr id="135" name="Google Shape;135;p3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136" name="Google Shape;136;p3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3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2593600" y="2525925"/>
            <a:ext cx="7879800" cy="28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Colonial Pipeline: Largest fuel pipeline system in the U.S., transporting 2.5 million barrels of fuel daily across 5,500 miles.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On May 7, 2021, Colonial Pipeline’s IT systems were compromised by a ransomware attack from the DarkSide group, leading to the shutdown of operations for six days.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1532740" y="4410470"/>
            <a:ext cx="4963963" cy="100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BACKGROUND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2593603" y="6315506"/>
            <a:ext cx="6915150" cy="137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Panic buying and fuel shortages on the East Coast.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Financial loss: $4.4 million ransom paid in Bitcoin.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Disruption of energy supply.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2593603" y="1914678"/>
            <a:ext cx="1771650" cy="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2593603" y="5276218"/>
            <a:ext cx="2800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IMPACT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148" name="Google Shape;148;p4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50" name="Google Shape;150;p4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4"/>
          <p:cNvGrpSpPr/>
          <p:nvPr/>
        </p:nvGrpSpPr>
        <p:grpSpPr>
          <a:xfrm>
            <a:off x="-552450" y="1850966"/>
            <a:ext cx="21069300" cy="6412111"/>
            <a:chOff x="0" y="-38100"/>
            <a:chExt cx="5549116" cy="1688786"/>
          </a:xfrm>
        </p:grpSpPr>
        <p:sp>
          <p:nvSpPr>
            <p:cNvPr id="152" name="Google Shape;152;p4"/>
            <p:cNvSpPr/>
            <p:nvPr/>
          </p:nvSpPr>
          <p:spPr>
            <a:xfrm>
              <a:off x="0" y="0"/>
              <a:ext cx="5549116" cy="1650686"/>
            </a:xfrm>
            <a:custGeom>
              <a:rect b="b" l="l" r="r" t="t"/>
              <a:pathLst>
                <a:path extrusionOk="0" h="1650686" w="5549116">
                  <a:moveTo>
                    <a:pt x="0" y="0"/>
                  </a:moveTo>
                  <a:lnTo>
                    <a:pt x="5549116" y="0"/>
                  </a:lnTo>
                  <a:lnTo>
                    <a:pt x="5549116" y="1650686"/>
                  </a:lnTo>
                  <a:lnTo>
                    <a:pt x="0" y="1650686"/>
                  </a:lnTo>
                  <a:close/>
                </a:path>
              </a:pathLst>
            </a:custGeom>
            <a:gradFill>
              <a:gsLst>
                <a:gs pos="0">
                  <a:srgbClr val="006CCD">
                    <a:alpha val="0"/>
                  </a:srgbClr>
                </a:gs>
                <a:gs pos="100000">
                  <a:srgbClr val="2376D4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53" name="Google Shape;153;p4"/>
            <p:cNvSpPr txBox="1"/>
            <p:nvPr/>
          </p:nvSpPr>
          <p:spPr>
            <a:xfrm>
              <a:off x="0" y="-38100"/>
              <a:ext cx="5549116" cy="16887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4"/>
          <p:cNvSpPr/>
          <p:nvPr/>
        </p:nvSpPr>
        <p:spPr>
          <a:xfrm flipH="1">
            <a:off x="13141693" y="2507132"/>
            <a:ext cx="5802923" cy="4114800"/>
          </a:xfrm>
          <a:custGeom>
            <a:rect b="b" l="l" r="r" t="t"/>
            <a:pathLst>
              <a:path extrusionOk="0" h="4114800" w="5802923">
                <a:moveTo>
                  <a:pt x="5802923" y="0"/>
                </a:moveTo>
                <a:lnTo>
                  <a:pt x="0" y="0"/>
                </a:lnTo>
                <a:lnTo>
                  <a:pt x="0" y="4114800"/>
                </a:lnTo>
                <a:lnTo>
                  <a:pt x="5802923" y="4114800"/>
                </a:lnTo>
                <a:lnTo>
                  <a:pt x="580292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4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04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5641669" y="2449446"/>
            <a:ext cx="7004662" cy="100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SECURITY ATTACK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-312143" y="2507132"/>
            <a:ext cx="5802923" cy="4114800"/>
          </a:xfrm>
          <a:custGeom>
            <a:rect b="b" l="l" r="r" t="t"/>
            <a:pathLst>
              <a:path extrusionOk="0" h="4114800" w="5802923">
                <a:moveTo>
                  <a:pt x="0" y="0"/>
                </a:moveTo>
                <a:lnTo>
                  <a:pt x="5802923" y="0"/>
                </a:lnTo>
                <a:lnTo>
                  <a:pt x="58029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4"/>
          <p:cNvSpPr txBox="1"/>
          <p:nvPr/>
        </p:nvSpPr>
        <p:spPr>
          <a:xfrm>
            <a:off x="1666579" y="4076998"/>
            <a:ext cx="6915150" cy="3778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Nature of the Attack: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Attackers gained access through a compromised password on a VPN account.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Ransomware was deployed by the cybercriminal group DarkSide.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Tactics: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DarkSide used a "double extortion" tactic encrypting data while also threatening to leak it if the ransom wasn’t paid.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9618416" y="4762798"/>
            <a:ext cx="6915150" cy="2750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Impact: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Shutdown of pipeline systems and business operations.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Widespread fuel shortages and economic loss.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company leaders decided to give into DarkSide’s demands and pay the ransom of 75 bitcoin (around $4.4m)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165" name="Google Shape;165;p5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67" name="Google Shape;167;p5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5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05</a:t>
            </a:r>
            <a:endParaRPr/>
          </a:p>
        </p:txBody>
      </p:sp>
      <p:grpSp>
        <p:nvGrpSpPr>
          <p:cNvPr id="169" name="Google Shape;169;p5"/>
          <p:cNvGrpSpPr/>
          <p:nvPr/>
        </p:nvGrpSpPr>
        <p:grpSpPr>
          <a:xfrm>
            <a:off x="0" y="2633044"/>
            <a:ext cx="18502431" cy="4495250"/>
            <a:chOff x="0" y="-38100"/>
            <a:chExt cx="4873068" cy="1183934"/>
          </a:xfrm>
        </p:grpSpPr>
        <p:sp>
          <p:nvSpPr>
            <p:cNvPr id="170" name="Google Shape;170;p5"/>
            <p:cNvSpPr/>
            <p:nvPr/>
          </p:nvSpPr>
          <p:spPr>
            <a:xfrm>
              <a:off x="0" y="0"/>
              <a:ext cx="4873068" cy="1145834"/>
            </a:xfrm>
            <a:custGeom>
              <a:rect b="b" l="l" r="r" t="t"/>
              <a:pathLst>
                <a:path extrusionOk="0" h="1145834" w="4873068">
                  <a:moveTo>
                    <a:pt x="0" y="0"/>
                  </a:moveTo>
                  <a:lnTo>
                    <a:pt x="4873068" y="0"/>
                  </a:lnTo>
                  <a:lnTo>
                    <a:pt x="4873068" y="1145834"/>
                  </a:lnTo>
                  <a:lnTo>
                    <a:pt x="0" y="1145834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40784"/>
                  </a:srgbClr>
                </a:gs>
                <a:gs pos="50000">
                  <a:srgbClr val="0F2949">
                    <a:alpha val="0"/>
                  </a:srgbClr>
                </a:gs>
                <a:gs pos="100000">
                  <a:srgbClr val="328DFF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1" name="Google Shape;171;p5"/>
            <p:cNvSpPr txBox="1"/>
            <p:nvPr/>
          </p:nvSpPr>
          <p:spPr>
            <a:xfrm>
              <a:off x="0" y="-38100"/>
              <a:ext cx="4873068" cy="1183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5"/>
          <p:cNvSpPr txBox="1"/>
          <p:nvPr/>
        </p:nvSpPr>
        <p:spPr>
          <a:xfrm>
            <a:off x="1028700" y="2892005"/>
            <a:ext cx="6454684" cy="4333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SECURITY MECHANISMS BEFORE THE ATTACK</a:t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 flipH="1">
            <a:off x="13217893" y="2068982"/>
            <a:ext cx="5802923" cy="4114800"/>
          </a:xfrm>
          <a:custGeom>
            <a:rect b="b" l="l" r="r" t="t"/>
            <a:pathLst>
              <a:path extrusionOk="0" h="4114800" w="5802923">
                <a:moveTo>
                  <a:pt x="5802923" y="0"/>
                </a:moveTo>
                <a:lnTo>
                  <a:pt x="0" y="0"/>
                </a:lnTo>
                <a:lnTo>
                  <a:pt x="0" y="4114800"/>
                </a:lnTo>
                <a:lnTo>
                  <a:pt x="5802923" y="4114800"/>
                </a:lnTo>
                <a:lnTo>
                  <a:pt x="580292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4" name="Google Shape;174;p5"/>
          <p:cNvGrpSpPr/>
          <p:nvPr/>
        </p:nvGrpSpPr>
        <p:grpSpPr>
          <a:xfrm>
            <a:off x="13169918" y="2960934"/>
            <a:ext cx="4782962" cy="4565156"/>
            <a:chOff x="-366471" y="-11891"/>
            <a:chExt cx="15572971" cy="14863810"/>
          </a:xfrm>
        </p:grpSpPr>
        <p:sp>
          <p:nvSpPr>
            <p:cNvPr id="175" name="Google Shape;175;p5"/>
            <p:cNvSpPr/>
            <p:nvPr/>
          </p:nvSpPr>
          <p:spPr>
            <a:xfrm>
              <a:off x="-366471" y="-11891"/>
              <a:ext cx="15572971" cy="14863810"/>
            </a:xfrm>
            <a:custGeom>
              <a:rect b="b" l="l" r="r" t="t"/>
              <a:pathLst>
                <a:path extrusionOk="0"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>
              <a:gsLst>
                <a:gs pos="0">
                  <a:srgbClr val="68F8FF"/>
                </a:gs>
                <a:gs pos="100000">
                  <a:srgbClr val="4612B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-156193" y="188812"/>
              <a:ext cx="15152415" cy="14462405"/>
            </a:xfrm>
            <a:custGeom>
              <a:rect b="b" l="l" r="r" t="t"/>
              <a:pathLst>
                <a:path extrusionOk="0"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223301" y="551024"/>
              <a:ext cx="14393427" cy="13737979"/>
            </a:xfrm>
            <a:custGeom>
              <a:rect b="b" l="l" r="r" t="t"/>
              <a:pathLst>
                <a:path extrusionOk="0"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4711" r="-24711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5"/>
          <p:cNvGrpSpPr/>
          <p:nvPr/>
        </p:nvGrpSpPr>
        <p:grpSpPr>
          <a:xfrm>
            <a:off x="7310664" y="3038000"/>
            <a:ext cx="345442" cy="490104"/>
            <a:chOff x="0" y="-38100"/>
            <a:chExt cx="90980" cy="129080"/>
          </a:xfrm>
        </p:grpSpPr>
        <p:sp>
          <p:nvSpPr>
            <p:cNvPr id="179" name="Google Shape;179;p5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180" name="Google Shape;180;p5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7835380" y="3764810"/>
            <a:ext cx="5447093" cy="2064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Basic network segmentation separating IT and OT (Operational Technology) systems.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Security monitoring and firewalls in place.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835374" y="3086200"/>
            <a:ext cx="4886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Existing mechanisms</a:t>
            </a:r>
            <a:endParaRPr/>
          </a:p>
        </p:txBody>
      </p:sp>
      <p:grpSp>
        <p:nvGrpSpPr>
          <p:cNvPr id="183" name="Google Shape;183;p5"/>
          <p:cNvGrpSpPr/>
          <p:nvPr/>
        </p:nvGrpSpPr>
        <p:grpSpPr>
          <a:xfrm>
            <a:off x="7310664" y="5721944"/>
            <a:ext cx="345440" cy="490101"/>
            <a:chOff x="0" y="-38100"/>
            <a:chExt cx="90980" cy="129080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5"/>
          <p:cNvSpPr txBox="1"/>
          <p:nvPr/>
        </p:nvSpPr>
        <p:spPr>
          <a:xfrm>
            <a:off x="7835380" y="6535101"/>
            <a:ext cx="5227858" cy="240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Compromised password: Use of a weak password without multi-factor authentication (MFA).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Lack of ransomware-specific defenses or incident response plan tailored for ransomware.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7835380" y="5829298"/>
            <a:ext cx="30726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 they failed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193" name="Google Shape;193;p6"/>
          <p:cNvGrpSpPr/>
          <p:nvPr/>
        </p:nvGrpSpPr>
        <p:grpSpPr>
          <a:xfrm>
            <a:off x="10498890" y="1556187"/>
            <a:ext cx="8057507" cy="5137104"/>
            <a:chOff x="0" y="-38100"/>
            <a:chExt cx="2122142" cy="1352982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2122142" cy="1314882"/>
            </a:xfrm>
            <a:custGeom>
              <a:rect b="b" l="l" r="r" t="t"/>
              <a:pathLst>
                <a:path extrusionOk="0" h="1314882" w="2122142">
                  <a:moveTo>
                    <a:pt x="0" y="0"/>
                  </a:moveTo>
                  <a:lnTo>
                    <a:pt x="2122142" y="0"/>
                  </a:lnTo>
                  <a:lnTo>
                    <a:pt x="2122142" y="1314882"/>
                  </a:lnTo>
                  <a:lnTo>
                    <a:pt x="0" y="1314882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0784"/>
                  </a:srgbClr>
                </a:gs>
                <a:gs pos="100000">
                  <a:srgbClr val="000000">
                    <a:alpha val="40784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5" name="Google Shape;195;p6"/>
            <p:cNvSpPr txBox="1"/>
            <p:nvPr/>
          </p:nvSpPr>
          <p:spPr>
            <a:xfrm>
              <a:off x="0" y="-38100"/>
              <a:ext cx="2122142" cy="1352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6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197" name="Google Shape;197;p6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8" name="Google Shape;198;p6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6"/>
          <p:cNvGrpSpPr/>
          <p:nvPr/>
        </p:nvGrpSpPr>
        <p:grpSpPr>
          <a:xfrm>
            <a:off x="1962150" y="2127818"/>
            <a:ext cx="345440" cy="490101"/>
            <a:chOff x="0" y="-38100"/>
            <a:chExt cx="90980" cy="129080"/>
          </a:xfrm>
        </p:grpSpPr>
        <p:sp>
          <p:nvSpPr>
            <p:cNvPr id="200" name="Google Shape;200;p6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201" name="Google Shape;201;p6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6"/>
          <p:cNvGrpSpPr/>
          <p:nvPr/>
        </p:nvGrpSpPr>
        <p:grpSpPr>
          <a:xfrm>
            <a:off x="1962150" y="4327775"/>
            <a:ext cx="345440" cy="490101"/>
            <a:chOff x="0" y="-38100"/>
            <a:chExt cx="90980" cy="129080"/>
          </a:xfrm>
        </p:grpSpPr>
        <p:sp>
          <p:nvSpPr>
            <p:cNvPr id="203" name="Google Shape;203;p6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204" name="Google Shape;204;p6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6"/>
          <p:cNvGrpSpPr/>
          <p:nvPr/>
        </p:nvGrpSpPr>
        <p:grpSpPr>
          <a:xfrm>
            <a:off x="1962150" y="6337810"/>
            <a:ext cx="345440" cy="490101"/>
            <a:chOff x="0" y="-38100"/>
            <a:chExt cx="90980" cy="129080"/>
          </a:xfrm>
        </p:grpSpPr>
        <p:sp>
          <p:nvSpPr>
            <p:cNvPr id="206" name="Google Shape;206;p6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207" name="Google Shape;207;p6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6"/>
          <p:cNvSpPr/>
          <p:nvPr/>
        </p:nvSpPr>
        <p:spPr>
          <a:xfrm>
            <a:off x="12679553" y="410769"/>
            <a:ext cx="1040529" cy="1040529"/>
          </a:xfrm>
          <a:custGeom>
            <a:rect b="b" l="l" r="r" t="t"/>
            <a:pathLst>
              <a:path extrusionOk="0" h="1040529" w="1040529">
                <a:moveTo>
                  <a:pt x="0" y="0"/>
                </a:moveTo>
                <a:lnTo>
                  <a:pt x="1040529" y="0"/>
                </a:lnTo>
                <a:lnTo>
                  <a:pt x="1040529" y="1040529"/>
                </a:lnTo>
                <a:lnTo>
                  <a:pt x="0" y="1040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6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06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11635106" y="3326460"/>
            <a:ext cx="5924400" cy="1950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CRYPTOGRAPHY FUNDAMENTALS</a:t>
            </a:r>
            <a:endParaRPr/>
          </a:p>
        </p:txBody>
      </p:sp>
      <p:sp>
        <p:nvSpPr>
          <p:cNvPr id="211" name="Google Shape;211;p6"/>
          <p:cNvSpPr txBox="1"/>
          <p:nvPr/>
        </p:nvSpPr>
        <p:spPr>
          <a:xfrm>
            <a:off x="2593603" y="2773872"/>
            <a:ext cx="6915150" cy="137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Ransomware attacks like DarkSide’s rely on advanced cryptographic algorithms to lock users out of their own systems.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2593603" y="2191146"/>
            <a:ext cx="6073847" cy="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Encryption Role in Ransomware</a:t>
            </a: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2593603" y="4975409"/>
            <a:ext cx="6550397" cy="1546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5030" lvl="1" marL="370060" marR="0" rtl="0" algn="l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4"/>
              <a:buFont typeface="Arial"/>
              <a:buChar char="•"/>
            </a:pPr>
            <a:r>
              <a:rPr b="1" i="0" lang="en-US" sz="171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Attackers encrypt data using a symmetric encryption algorithm.</a:t>
            </a:r>
            <a:endParaRPr/>
          </a:p>
          <a:p>
            <a:pPr indent="-185030" lvl="1" marL="370060" marR="0" rtl="0" algn="l">
              <a:lnSpc>
                <a:spcPct val="1399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14"/>
              <a:buFont typeface="Arial"/>
              <a:buChar char="•"/>
            </a:pPr>
            <a:r>
              <a:rPr b="1" i="0" lang="en-US" sz="171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Private decryption keys are held by the attackers, requiring victims to pay for the key to unlock their files.</a:t>
            </a:r>
            <a:endParaRPr/>
          </a:p>
          <a:p>
            <a:pPr indent="0" lvl="0" marL="0" marR="0" rtl="0" algn="l">
              <a:lnSpc>
                <a:spcPct val="82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14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82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714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2593603" y="4391104"/>
            <a:ext cx="3962400" cy="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Encryption Process</a:t>
            </a:r>
            <a:endParaRPr/>
          </a:p>
        </p:txBody>
      </p:sp>
      <p:sp>
        <p:nvSpPr>
          <p:cNvPr id="215" name="Google Shape;215;p6"/>
          <p:cNvSpPr txBox="1"/>
          <p:nvPr/>
        </p:nvSpPr>
        <p:spPr>
          <a:xfrm>
            <a:off x="2593603" y="6983864"/>
            <a:ext cx="6915150" cy="103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Encryption is a double-edged sword it protects data from unauthorized access, but it also makes ransomware highly effective.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2593603" y="6401139"/>
            <a:ext cx="3962400" cy="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Challenges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 rot="10800000">
            <a:off x="14057047" y="4061712"/>
            <a:ext cx="5802923" cy="4114800"/>
          </a:xfrm>
          <a:custGeom>
            <a:rect b="b" l="l" r="r" t="t"/>
            <a:pathLst>
              <a:path extrusionOk="0" h="4114800" w="5802923">
                <a:moveTo>
                  <a:pt x="5802923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802923" y="0"/>
                </a:lnTo>
                <a:lnTo>
                  <a:pt x="5802923" y="411480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6"/>
          <p:cNvSpPr/>
          <p:nvPr/>
        </p:nvSpPr>
        <p:spPr>
          <a:xfrm>
            <a:off x="12563130" y="7367553"/>
            <a:ext cx="1273375" cy="1304201"/>
          </a:xfrm>
          <a:custGeom>
            <a:rect b="b" l="l" r="r" t="t"/>
            <a:pathLst>
              <a:path extrusionOk="0" h="1304201" w="1273375">
                <a:moveTo>
                  <a:pt x="0" y="0"/>
                </a:moveTo>
                <a:lnTo>
                  <a:pt x="1273375" y="0"/>
                </a:lnTo>
                <a:lnTo>
                  <a:pt x="1273375" y="1304201"/>
                </a:lnTo>
                <a:lnTo>
                  <a:pt x="0" y="1304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224" name="Google Shape;224;p7"/>
          <p:cNvGrpSpPr/>
          <p:nvPr/>
        </p:nvGrpSpPr>
        <p:grpSpPr>
          <a:xfrm>
            <a:off x="9309485" y="4550195"/>
            <a:ext cx="2590275" cy="2590275"/>
            <a:chOff x="0" y="0"/>
            <a:chExt cx="812800" cy="812800"/>
          </a:xfrm>
        </p:grpSpPr>
        <p:sp>
          <p:nvSpPr>
            <p:cNvPr id="225" name="Google Shape;225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6CCD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7" name="Google Shape;227;p7"/>
          <p:cNvGrpSpPr/>
          <p:nvPr/>
        </p:nvGrpSpPr>
        <p:grpSpPr>
          <a:xfrm>
            <a:off x="9901894" y="-548809"/>
            <a:ext cx="8386106" cy="12173534"/>
            <a:chOff x="0" y="-38100"/>
            <a:chExt cx="2208686" cy="3206198"/>
          </a:xfrm>
        </p:grpSpPr>
        <p:sp>
          <p:nvSpPr>
            <p:cNvPr id="228" name="Google Shape;228;p7"/>
            <p:cNvSpPr/>
            <p:nvPr/>
          </p:nvSpPr>
          <p:spPr>
            <a:xfrm>
              <a:off x="0" y="0"/>
              <a:ext cx="2208686" cy="3168098"/>
            </a:xfrm>
            <a:custGeom>
              <a:rect b="b" l="l" r="r" t="t"/>
              <a:pathLst>
                <a:path extrusionOk="0" h="3168098" w="2208686">
                  <a:moveTo>
                    <a:pt x="0" y="0"/>
                  </a:moveTo>
                  <a:lnTo>
                    <a:pt x="2208686" y="0"/>
                  </a:lnTo>
                  <a:lnTo>
                    <a:pt x="2208686" y="3168098"/>
                  </a:lnTo>
                  <a:lnTo>
                    <a:pt x="0" y="3168098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0784"/>
                  </a:srgbClr>
                </a:gs>
                <a:gs pos="100000">
                  <a:srgbClr val="000000">
                    <a:alpha val="40784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9" name="Google Shape;229;p7"/>
            <p:cNvSpPr txBox="1"/>
            <p:nvPr/>
          </p:nvSpPr>
          <p:spPr>
            <a:xfrm>
              <a:off x="0" y="-38100"/>
              <a:ext cx="2208686" cy="3206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7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231" name="Google Shape;231;p7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32" name="Google Shape;232;p7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7"/>
          <p:cNvGrpSpPr/>
          <p:nvPr/>
        </p:nvGrpSpPr>
        <p:grpSpPr>
          <a:xfrm>
            <a:off x="1174919" y="3286408"/>
            <a:ext cx="345442" cy="490104"/>
            <a:chOff x="0" y="-38100"/>
            <a:chExt cx="90980" cy="129080"/>
          </a:xfrm>
        </p:grpSpPr>
        <p:sp>
          <p:nvSpPr>
            <p:cNvPr id="234" name="Google Shape;234;p7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235" name="Google Shape;235;p7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7"/>
          <p:cNvGrpSpPr/>
          <p:nvPr/>
        </p:nvGrpSpPr>
        <p:grpSpPr>
          <a:xfrm>
            <a:off x="1174919" y="4826119"/>
            <a:ext cx="345440" cy="490101"/>
            <a:chOff x="0" y="-38100"/>
            <a:chExt cx="90980" cy="129080"/>
          </a:xfrm>
        </p:grpSpPr>
        <p:sp>
          <p:nvSpPr>
            <p:cNvPr id="237" name="Google Shape;237;p7"/>
            <p:cNvSpPr/>
            <p:nvPr/>
          </p:nvSpPr>
          <p:spPr>
            <a:xfrm>
              <a:off x="0" y="0"/>
              <a:ext cx="90980" cy="90980"/>
            </a:xfrm>
            <a:custGeom>
              <a:rect b="b" l="l" r="r" t="t"/>
              <a:pathLst>
                <a:path extrusionOk="0" h="90980" w="90980">
                  <a:moveTo>
                    <a:pt x="0" y="0"/>
                  </a:moveTo>
                  <a:lnTo>
                    <a:pt x="90980" y="0"/>
                  </a:lnTo>
                  <a:lnTo>
                    <a:pt x="90980" y="90980"/>
                  </a:lnTo>
                  <a:lnTo>
                    <a:pt x="0" y="90980"/>
                  </a:lnTo>
                  <a:close/>
                </a:path>
              </a:pathLst>
            </a:custGeom>
            <a:solidFill>
              <a:srgbClr val="006CCD"/>
            </a:solidFill>
            <a:ln>
              <a:noFill/>
            </a:ln>
          </p:spPr>
        </p:sp>
        <p:sp>
          <p:nvSpPr>
            <p:cNvPr id="238" name="Google Shape;238;p7"/>
            <p:cNvSpPr txBox="1"/>
            <p:nvPr/>
          </p:nvSpPr>
          <p:spPr>
            <a:xfrm>
              <a:off x="0" y="-38100"/>
              <a:ext cx="90980" cy="1290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7"/>
          <p:cNvSpPr/>
          <p:nvPr/>
        </p:nvSpPr>
        <p:spPr>
          <a:xfrm>
            <a:off x="16654572" y="8781490"/>
            <a:ext cx="1209456" cy="1238735"/>
          </a:xfrm>
          <a:custGeom>
            <a:rect b="b" l="l" r="r" t="t"/>
            <a:pathLst>
              <a:path extrusionOk="0" h="1238735" w="1209456">
                <a:moveTo>
                  <a:pt x="0" y="0"/>
                </a:moveTo>
                <a:lnTo>
                  <a:pt x="1209456" y="0"/>
                </a:lnTo>
                <a:lnTo>
                  <a:pt x="1209456" y="1238735"/>
                </a:lnTo>
                <a:lnTo>
                  <a:pt x="0" y="1238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0" name="Google Shape;240;p7"/>
          <p:cNvGrpSpPr/>
          <p:nvPr/>
        </p:nvGrpSpPr>
        <p:grpSpPr>
          <a:xfrm>
            <a:off x="9725121" y="4936018"/>
            <a:ext cx="1759003" cy="1759003"/>
            <a:chOff x="0" y="0"/>
            <a:chExt cx="812800" cy="812800"/>
          </a:xfrm>
        </p:grpSpPr>
        <p:sp>
          <p:nvSpPr>
            <p:cNvPr id="241" name="Google Shape;241;p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41D57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7"/>
          <p:cNvSpPr/>
          <p:nvPr/>
        </p:nvSpPr>
        <p:spPr>
          <a:xfrm>
            <a:off x="9101721" y="2108860"/>
            <a:ext cx="9186279" cy="5752907"/>
          </a:xfrm>
          <a:custGeom>
            <a:rect b="b" l="l" r="r" t="t"/>
            <a:pathLst>
              <a:path extrusionOk="0" h="5752907" w="9186279">
                <a:moveTo>
                  <a:pt x="0" y="0"/>
                </a:moveTo>
                <a:lnTo>
                  <a:pt x="9186279" y="0"/>
                </a:lnTo>
                <a:lnTo>
                  <a:pt x="9186279" y="5752907"/>
                </a:lnTo>
                <a:lnTo>
                  <a:pt x="0" y="5752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7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07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1028700" y="580575"/>
            <a:ext cx="7306800" cy="22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DEFENDING &amp; COUNTERMEASURES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1666579" y="3892397"/>
            <a:ext cx="69153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Colonial paid the ransom to retrieve decryption keys and restored their systems.</a:t>
            </a:r>
            <a:endParaRPr/>
          </a:p>
        </p:txBody>
      </p:sp>
      <p:sp>
        <p:nvSpPr>
          <p:cNvPr id="247" name="Google Shape;247;p7"/>
          <p:cNvSpPr txBox="1"/>
          <p:nvPr/>
        </p:nvSpPr>
        <p:spPr>
          <a:xfrm>
            <a:off x="1640154" y="3334612"/>
            <a:ext cx="58638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Immediate Countermeasures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1666579" y="5553138"/>
            <a:ext cx="6915150" cy="4121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Multi-factor authentication (MFA): Mandatory MFA for all remote access.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Network segmentation: Further segmentation between IT and OT systems to limit the spread of future attacks.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Zero-trust security model: Only allow access based on a strict verification process.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Employee training: Regular phishing simulations and cybersecurity awareness programs.</a:t>
            </a:r>
            <a:endParaRPr/>
          </a:p>
          <a:p>
            <a:pPr indent="-212755" lvl="1" marL="425512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0"/>
              <a:buFont typeface="Arial"/>
              <a:buChar char="•"/>
            </a:pPr>
            <a:r>
              <a:rPr b="1" i="0" lang="en-US" sz="19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Regular backups: Ensuring frequent backups of critical data and testing restoration processes.</a:t>
            </a:r>
            <a:endParaRPr/>
          </a:p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70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1666574" y="4899975"/>
            <a:ext cx="64020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Long-term Countermeasures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255" name="Google Shape;255;p8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256" name="Google Shape;256;p8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57" name="Google Shape;257;p8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8" name="Google Shape;258;p8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08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9729688" y="4771509"/>
            <a:ext cx="7380339" cy="4629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0700" lvl="1" marL="44139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Arial"/>
              <a:buChar char="•"/>
            </a:pPr>
            <a:r>
              <a:rPr b="1" i="0" lang="en-US" sz="204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critical need for securing critical infrastructure against ransomware.</a:t>
            </a:r>
            <a:endParaRPr/>
          </a:p>
          <a:p>
            <a:pPr indent="-220700" lvl="1" marL="44139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Arial"/>
              <a:buChar char="•"/>
            </a:pPr>
            <a:r>
              <a:rPr b="1" i="0" lang="en-US" sz="204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Importance of cybersecurity hygiene (strong passwords, MFA, backups).</a:t>
            </a:r>
            <a:endParaRPr/>
          </a:p>
          <a:p>
            <a:pPr indent="-220700" lvl="1" marL="44139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Arial"/>
              <a:buChar char="•"/>
            </a:pPr>
            <a:r>
              <a:rPr b="1" i="0" lang="en-US" sz="204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Cybersecurity awareness at all levels of the organization.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44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20700" lvl="1" marL="44139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Arial"/>
              <a:buChar char="•"/>
            </a:pPr>
            <a:r>
              <a:rPr b="1" i="0" lang="en-US" sz="204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Government response: Biden’s executive order on improving U.S. cybersecurity, mandating stronger security practices for critical infrastructure.</a:t>
            </a:r>
            <a:endParaRPr/>
          </a:p>
          <a:p>
            <a:pPr indent="-220700" lvl="1" marL="441398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Arial"/>
              <a:buChar char="•"/>
            </a:pPr>
            <a:r>
              <a:rPr b="1" i="0" lang="en-US" sz="2044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Increase in ransomware-specific defenses across industries.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44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260" name="Google Shape;260;p8"/>
          <p:cNvGrpSpPr/>
          <p:nvPr/>
        </p:nvGrpSpPr>
        <p:grpSpPr>
          <a:xfrm>
            <a:off x="8726395" y="1633691"/>
            <a:ext cx="10466891" cy="3085550"/>
            <a:chOff x="0" y="-38100"/>
            <a:chExt cx="2756712" cy="812655"/>
          </a:xfrm>
        </p:grpSpPr>
        <p:sp>
          <p:nvSpPr>
            <p:cNvPr id="261" name="Google Shape;261;p8"/>
            <p:cNvSpPr/>
            <p:nvPr/>
          </p:nvSpPr>
          <p:spPr>
            <a:xfrm>
              <a:off x="0" y="0"/>
              <a:ext cx="2756712" cy="774555"/>
            </a:xfrm>
            <a:custGeom>
              <a:rect b="b" l="l" r="r" t="t"/>
              <a:pathLst>
                <a:path extrusionOk="0" h="774555" w="2756712">
                  <a:moveTo>
                    <a:pt x="0" y="0"/>
                  </a:moveTo>
                  <a:lnTo>
                    <a:pt x="2756712" y="0"/>
                  </a:lnTo>
                  <a:lnTo>
                    <a:pt x="2756712" y="774555"/>
                  </a:lnTo>
                  <a:lnTo>
                    <a:pt x="0" y="774555"/>
                  </a:lnTo>
                  <a:close/>
                </a:path>
              </a:pathLst>
            </a:custGeom>
            <a:gradFill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0784"/>
                  </a:srgbClr>
                </a:gs>
                <a:gs pos="100000">
                  <a:srgbClr val="000000">
                    <a:alpha val="40784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62" name="Google Shape;262;p8"/>
            <p:cNvSpPr txBox="1"/>
            <p:nvPr/>
          </p:nvSpPr>
          <p:spPr>
            <a:xfrm>
              <a:off x="0" y="-38100"/>
              <a:ext cx="2756712" cy="812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8"/>
          <p:cNvSpPr txBox="1"/>
          <p:nvPr/>
        </p:nvSpPr>
        <p:spPr>
          <a:xfrm>
            <a:off x="9271005" y="2071506"/>
            <a:ext cx="8297705" cy="3743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2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LESSONS LEARNED &amp; INDUSTRY IMPACT</a:t>
            </a:r>
            <a:endParaRPr/>
          </a:p>
          <a:p>
            <a:pPr indent="0" lvl="0" marL="0" marR="0" rtl="0" algn="l">
              <a:lnSpc>
                <a:spcPct val="11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21" u="none" cap="none" strike="noStrike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pSp>
        <p:nvGrpSpPr>
          <p:cNvPr id="264" name="Google Shape;264;p8"/>
          <p:cNvGrpSpPr/>
          <p:nvPr/>
        </p:nvGrpSpPr>
        <p:grpSpPr>
          <a:xfrm>
            <a:off x="3124281" y="1774134"/>
            <a:ext cx="5524337" cy="5272770"/>
            <a:chOff x="-366471" y="-11891"/>
            <a:chExt cx="15572971" cy="14863810"/>
          </a:xfrm>
        </p:grpSpPr>
        <p:sp>
          <p:nvSpPr>
            <p:cNvPr id="265" name="Google Shape;265;p8"/>
            <p:cNvSpPr/>
            <p:nvPr/>
          </p:nvSpPr>
          <p:spPr>
            <a:xfrm>
              <a:off x="-366471" y="-11891"/>
              <a:ext cx="15572971" cy="14863810"/>
            </a:xfrm>
            <a:custGeom>
              <a:rect b="b" l="l" r="r" t="t"/>
              <a:pathLst>
                <a:path extrusionOk="0"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>
              <a:gsLst>
                <a:gs pos="0">
                  <a:srgbClr val="68F8FF"/>
                </a:gs>
                <a:gs pos="100000">
                  <a:srgbClr val="4612B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-156193" y="188812"/>
              <a:ext cx="15152415" cy="14462405"/>
            </a:xfrm>
            <a:custGeom>
              <a:rect b="b" l="l" r="r" t="t"/>
              <a:pathLst>
                <a:path extrusionOk="0"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223301" y="551024"/>
              <a:ext cx="14393427" cy="13737979"/>
            </a:xfrm>
            <a:custGeom>
              <a:rect b="b" l="l" r="r" t="t"/>
              <a:pathLst>
                <a:path extrusionOk="0"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24711" r="-24711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" name="Google Shape;268;p8"/>
          <p:cNvGrpSpPr/>
          <p:nvPr/>
        </p:nvGrpSpPr>
        <p:grpSpPr>
          <a:xfrm>
            <a:off x="1329196" y="4611615"/>
            <a:ext cx="3850170" cy="3674841"/>
            <a:chOff x="-366471" y="-11891"/>
            <a:chExt cx="15572971" cy="14863810"/>
          </a:xfrm>
        </p:grpSpPr>
        <p:sp>
          <p:nvSpPr>
            <p:cNvPr id="269" name="Google Shape;269;p8"/>
            <p:cNvSpPr/>
            <p:nvPr/>
          </p:nvSpPr>
          <p:spPr>
            <a:xfrm>
              <a:off x="-366471" y="-11891"/>
              <a:ext cx="15572971" cy="14863810"/>
            </a:xfrm>
            <a:custGeom>
              <a:rect b="b" l="l" r="r" t="t"/>
              <a:pathLst>
                <a:path extrusionOk="0" h="14863810" w="15572971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>
              <a:gsLst>
                <a:gs pos="0">
                  <a:srgbClr val="68F8FF"/>
                </a:gs>
                <a:gs pos="100000">
                  <a:srgbClr val="4612B6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-156193" y="188812"/>
              <a:ext cx="15152415" cy="14462405"/>
            </a:xfrm>
            <a:custGeom>
              <a:rect b="b" l="l" r="r" t="t"/>
              <a:pathLst>
                <a:path extrusionOk="0" h="14462405" w="1515241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223301" y="551024"/>
              <a:ext cx="14393427" cy="13737979"/>
            </a:xfrm>
            <a:custGeom>
              <a:rect b="b" l="l" r="r" t="t"/>
              <a:pathLst>
                <a:path extrusionOk="0" h="13737979" w="14393427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24711" r="-24711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8"/>
          <p:cNvSpPr/>
          <p:nvPr/>
        </p:nvSpPr>
        <p:spPr>
          <a:xfrm>
            <a:off x="1151504" y="2899460"/>
            <a:ext cx="1674557" cy="1715095"/>
          </a:xfrm>
          <a:custGeom>
            <a:rect b="b" l="l" r="r" t="t"/>
            <a:pathLst>
              <a:path extrusionOk="0" h="1715095" w="1674557">
                <a:moveTo>
                  <a:pt x="0" y="0"/>
                </a:moveTo>
                <a:lnTo>
                  <a:pt x="1674557" y="0"/>
                </a:lnTo>
                <a:lnTo>
                  <a:pt x="1674557" y="1715095"/>
                </a:lnTo>
                <a:lnTo>
                  <a:pt x="0" y="1715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8"/>
          <p:cNvSpPr/>
          <p:nvPr/>
        </p:nvSpPr>
        <p:spPr>
          <a:xfrm>
            <a:off x="5281721" y="7502307"/>
            <a:ext cx="1209456" cy="1238735"/>
          </a:xfrm>
          <a:custGeom>
            <a:rect b="b" l="l" r="r" t="t"/>
            <a:pathLst>
              <a:path extrusionOk="0" h="1238735" w="1209456">
                <a:moveTo>
                  <a:pt x="0" y="0"/>
                </a:moveTo>
                <a:lnTo>
                  <a:pt x="1209456" y="0"/>
                </a:lnTo>
                <a:lnTo>
                  <a:pt x="1209456" y="1238735"/>
                </a:lnTo>
                <a:lnTo>
                  <a:pt x="0" y="12387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100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grpSp>
        <p:nvGrpSpPr>
          <p:cNvPr id="279" name="Google Shape;279;p9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280" name="Google Shape;280;p9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81" name="Google Shape;281;p9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9"/>
          <p:cNvGrpSpPr/>
          <p:nvPr/>
        </p:nvGrpSpPr>
        <p:grpSpPr>
          <a:xfrm>
            <a:off x="-552450" y="1850966"/>
            <a:ext cx="21069300" cy="3170987"/>
            <a:chOff x="0" y="-38100"/>
            <a:chExt cx="5549116" cy="835157"/>
          </a:xfrm>
        </p:grpSpPr>
        <p:sp>
          <p:nvSpPr>
            <p:cNvPr id="283" name="Google Shape;283;p9"/>
            <p:cNvSpPr/>
            <p:nvPr/>
          </p:nvSpPr>
          <p:spPr>
            <a:xfrm>
              <a:off x="0" y="0"/>
              <a:ext cx="5549116" cy="797057"/>
            </a:xfrm>
            <a:custGeom>
              <a:rect b="b" l="l" r="r" t="t"/>
              <a:pathLst>
                <a:path extrusionOk="0" h="797057" w="5549116">
                  <a:moveTo>
                    <a:pt x="0" y="0"/>
                  </a:moveTo>
                  <a:lnTo>
                    <a:pt x="5549116" y="0"/>
                  </a:lnTo>
                  <a:lnTo>
                    <a:pt x="5549116" y="797057"/>
                  </a:lnTo>
                  <a:lnTo>
                    <a:pt x="0" y="797057"/>
                  </a:lnTo>
                  <a:close/>
                </a:path>
              </a:pathLst>
            </a:custGeom>
            <a:gradFill>
              <a:gsLst>
                <a:gs pos="0">
                  <a:srgbClr val="006CCD">
                    <a:alpha val="0"/>
                  </a:srgbClr>
                </a:gs>
                <a:gs pos="100000">
                  <a:srgbClr val="2376D4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84" name="Google Shape;284;p9"/>
            <p:cNvSpPr txBox="1"/>
            <p:nvPr/>
          </p:nvSpPr>
          <p:spPr>
            <a:xfrm>
              <a:off x="0" y="-38100"/>
              <a:ext cx="5549116" cy="835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9"/>
          <p:cNvSpPr txBox="1"/>
          <p:nvPr/>
        </p:nvSpPr>
        <p:spPr>
          <a:xfrm>
            <a:off x="5636391" y="3109668"/>
            <a:ext cx="7139009" cy="1007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672099" y="3508790"/>
            <a:ext cx="3491551" cy="2475827"/>
          </a:xfrm>
          <a:custGeom>
            <a:rect b="b" l="l" r="r" t="t"/>
            <a:pathLst>
              <a:path extrusionOk="0" h="2475827" w="3491551">
                <a:moveTo>
                  <a:pt x="0" y="0"/>
                </a:moveTo>
                <a:lnTo>
                  <a:pt x="3491551" y="0"/>
                </a:lnTo>
                <a:lnTo>
                  <a:pt x="3491551" y="2475827"/>
                </a:lnTo>
                <a:lnTo>
                  <a:pt x="0" y="2475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9"/>
          <p:cNvSpPr/>
          <p:nvPr/>
        </p:nvSpPr>
        <p:spPr>
          <a:xfrm flipH="1">
            <a:off x="14532931" y="3472456"/>
            <a:ext cx="3491551" cy="2475827"/>
          </a:xfrm>
          <a:custGeom>
            <a:rect b="b" l="l" r="r" t="t"/>
            <a:pathLst>
              <a:path extrusionOk="0" h="2475827" w="3491551">
                <a:moveTo>
                  <a:pt x="3491550" y="0"/>
                </a:moveTo>
                <a:lnTo>
                  <a:pt x="0" y="0"/>
                </a:lnTo>
                <a:lnTo>
                  <a:pt x="0" y="2475827"/>
                </a:lnTo>
                <a:lnTo>
                  <a:pt x="3491550" y="2475827"/>
                </a:lnTo>
                <a:lnTo>
                  <a:pt x="349155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9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09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3549382" y="6013552"/>
            <a:ext cx="11650410" cy="2465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7980" lvl="1" marL="43595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9"/>
              <a:buFont typeface="Arial"/>
              <a:buChar char="•"/>
            </a:pPr>
            <a:r>
              <a:rPr b="1" i="0" lang="en-US" sz="2019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Colonial Pipeline ransomware attack exposed the vulnerabilities of critical infrastructure.</a:t>
            </a:r>
            <a:endParaRPr/>
          </a:p>
          <a:p>
            <a:pPr indent="-217980" lvl="1" marL="43595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9"/>
              <a:buFont typeface="Arial"/>
              <a:buChar char="•"/>
            </a:pPr>
            <a:r>
              <a:rPr b="1" i="0" lang="en-US" sz="2019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Encryption was a key weapon in the attack, but strong security protocols could have mitigated its impact.</a:t>
            </a:r>
            <a:endParaRPr/>
          </a:p>
          <a:p>
            <a:pPr indent="-217980" lvl="1" marL="435959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19"/>
              <a:buFont typeface="Arial"/>
              <a:buChar char="•"/>
            </a:pPr>
            <a:r>
              <a:rPr b="1" i="0" lang="en-US" sz="2019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Robust defenses, including zero-trust models and regular backups, are essential to prevent future ransomware attacks.</a:t>
            </a:r>
            <a:endParaRPr/>
          </a:p>
          <a:p>
            <a:pPr indent="0" lvl="0" marL="0" marR="0" rtl="0" algn="l">
              <a:lnSpc>
                <a:spcPct val="13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19" u="none" cap="none" strike="noStrike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7610828" y="5019675"/>
            <a:ext cx="42369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KEY POINTS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04" r="-7988" t="-11295"/>
            </a:stretch>
          </a:blipFill>
          <a:ln>
            <a:noFill/>
          </a:ln>
        </p:spPr>
      </p:sp>
      <p:sp>
        <p:nvSpPr>
          <p:cNvPr id="296" name="Google Shape;296;p10"/>
          <p:cNvSpPr/>
          <p:nvPr/>
        </p:nvSpPr>
        <p:spPr>
          <a:xfrm>
            <a:off x="8963261" y="367632"/>
            <a:ext cx="361478" cy="361478"/>
          </a:xfrm>
          <a:custGeom>
            <a:rect b="b" l="l" r="r" t="t"/>
            <a:pathLst>
              <a:path extrusionOk="0" h="361478" w="361478">
                <a:moveTo>
                  <a:pt x="0" y="0"/>
                </a:moveTo>
                <a:lnTo>
                  <a:pt x="361478" y="0"/>
                </a:lnTo>
                <a:lnTo>
                  <a:pt x="361478" y="361478"/>
                </a:lnTo>
                <a:lnTo>
                  <a:pt x="0" y="361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7" name="Google Shape;297;p10"/>
          <p:cNvGrpSpPr/>
          <p:nvPr/>
        </p:nvGrpSpPr>
        <p:grpSpPr>
          <a:xfrm>
            <a:off x="605460" y="8885107"/>
            <a:ext cx="742179" cy="886840"/>
            <a:chOff x="0" y="-38100"/>
            <a:chExt cx="195471" cy="233571"/>
          </a:xfrm>
        </p:grpSpPr>
        <p:sp>
          <p:nvSpPr>
            <p:cNvPr id="298" name="Google Shape;298;p10"/>
            <p:cNvSpPr/>
            <p:nvPr/>
          </p:nvSpPr>
          <p:spPr>
            <a:xfrm>
              <a:off x="0" y="0"/>
              <a:ext cx="195471" cy="195471"/>
            </a:xfrm>
            <a:custGeom>
              <a:rect b="b" l="l" r="r" t="t"/>
              <a:pathLst>
                <a:path extrusionOk="0" h="195471" w="195471">
                  <a:moveTo>
                    <a:pt x="0" y="0"/>
                  </a:moveTo>
                  <a:lnTo>
                    <a:pt x="195471" y="0"/>
                  </a:lnTo>
                  <a:lnTo>
                    <a:pt x="195471" y="195471"/>
                  </a:lnTo>
                  <a:lnTo>
                    <a:pt x="0" y="195471"/>
                  </a:lnTo>
                  <a:close/>
                </a:path>
              </a:pathLst>
            </a:custGeom>
            <a:gradFill>
              <a:gsLst>
                <a:gs pos="0">
                  <a:srgbClr val="006CCD"/>
                </a:gs>
                <a:gs pos="100000">
                  <a:srgbClr val="050024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99" name="Google Shape;299;p10"/>
            <p:cNvSpPr txBox="1"/>
            <p:nvPr/>
          </p:nvSpPr>
          <p:spPr>
            <a:xfrm>
              <a:off x="0" y="-38100"/>
              <a:ext cx="195471" cy="233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1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0" name="Google Shape;300;p10"/>
          <p:cNvSpPr txBox="1"/>
          <p:nvPr/>
        </p:nvSpPr>
        <p:spPr>
          <a:xfrm>
            <a:off x="941728" y="9182100"/>
            <a:ext cx="724851" cy="4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</a:t>
            </a:r>
            <a:endParaRPr/>
          </a:p>
        </p:txBody>
      </p:sp>
      <p:sp>
        <p:nvSpPr>
          <p:cNvPr id="301" name="Google Shape;301;p10"/>
          <p:cNvSpPr txBox="1"/>
          <p:nvPr/>
        </p:nvSpPr>
        <p:spPr>
          <a:xfrm>
            <a:off x="5904706" y="3736954"/>
            <a:ext cx="6201927" cy="1709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 FOR YOUR ATTENTION</a:t>
            </a:r>
            <a:endParaRPr/>
          </a:p>
        </p:txBody>
      </p:sp>
      <p:sp>
        <p:nvSpPr>
          <p:cNvPr id="302" name="Google Shape;302;p10"/>
          <p:cNvSpPr txBox="1"/>
          <p:nvPr/>
        </p:nvSpPr>
        <p:spPr>
          <a:xfrm>
            <a:off x="6890123" y="5650584"/>
            <a:ext cx="4231094" cy="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70" u="none" cap="none" strike="noStrik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QUESTIONS?</a:t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-304338" y="2379879"/>
            <a:ext cx="3941834" cy="2795119"/>
          </a:xfrm>
          <a:custGeom>
            <a:rect b="b" l="l" r="r" t="t"/>
            <a:pathLst>
              <a:path extrusionOk="0" h="2795119" w="3941834">
                <a:moveTo>
                  <a:pt x="0" y="0"/>
                </a:moveTo>
                <a:lnTo>
                  <a:pt x="3941835" y="0"/>
                </a:lnTo>
                <a:lnTo>
                  <a:pt x="3941835" y="2795119"/>
                </a:lnTo>
                <a:lnTo>
                  <a:pt x="0" y="2795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10"/>
          <p:cNvSpPr/>
          <p:nvPr/>
        </p:nvSpPr>
        <p:spPr>
          <a:xfrm flipH="1">
            <a:off x="15885748" y="8374388"/>
            <a:ext cx="3941834" cy="2795119"/>
          </a:xfrm>
          <a:custGeom>
            <a:rect b="b" l="l" r="r" t="t"/>
            <a:pathLst>
              <a:path extrusionOk="0" h="2795119" w="3941834">
                <a:moveTo>
                  <a:pt x="3941834" y="0"/>
                </a:moveTo>
                <a:lnTo>
                  <a:pt x="0" y="0"/>
                </a:lnTo>
                <a:lnTo>
                  <a:pt x="0" y="2795119"/>
                </a:lnTo>
                <a:lnTo>
                  <a:pt x="3941834" y="2795119"/>
                </a:lnTo>
                <a:lnTo>
                  <a:pt x="394183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0b381d3693_0_0"/>
          <p:cNvSpPr txBox="1"/>
          <p:nvPr/>
        </p:nvSpPr>
        <p:spPr>
          <a:xfrm>
            <a:off x="725775" y="1840725"/>
            <a:ext cx="13615200" cy="58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“The Colonial Pipeline Cyberattack: How to Prevent Such Episodes?” Sectrio, 13 May 2021, sectrio.com/blog/colonial-pipeine-how-to-prevent-such-attacks/.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Kerner, Sean Michael. “Colonial Pipeline Hack Explained: Everything You Need to Know.” WhatIs, TechTarget, 26 Apr. 2022, www.techtarget.com/whatis/feature/Colonial-Pipeline-hack-explained-Everything-you-need-to-know.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Wallix. “What Happened in the Colonial Pipeline Ransomware Attack.” WALLIX, 9 Sept. 2024, www.wallix.com/what-happened-in-the-colonial-pipeline-ransomware-attack-2/.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Aksakal, Cem. “Case Overview: Colonial Pipeline Ransomware Attack.” Medium, Medium, 3 Nov. 2023, medium.com/@cem.aksakal7/case-overview-colonial-pipeline-ransomware-attack-5cce42e106e5.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Cora QuigleyCora is a digital copywriter for SSLs.com. Having eight years of experience in online content creation. “The Ransomware Group behind the Colonial Pipeline Attack.” SSLs.Com Blog, 27 May 2021, www.ssls.com/blog/the-ransomware-group-behind-the-colonial-pipeline-attack/.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0b381d3693_0_0"/>
          <p:cNvSpPr txBox="1"/>
          <p:nvPr/>
        </p:nvSpPr>
        <p:spPr>
          <a:xfrm>
            <a:off x="6714600" y="746000"/>
            <a:ext cx="48588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