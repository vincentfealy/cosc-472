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71" r:id="rId9"/>
    <p:sldId id="262" r:id="rId10"/>
    <p:sldId id="267" r:id="rId11"/>
    <p:sldId id="263" r:id="rId12"/>
    <p:sldId id="264" r:id="rId13"/>
    <p:sldId id="269" r:id="rId14"/>
    <p:sldId id="268" r:id="rId15"/>
    <p:sldId id="265" r:id="rId16"/>
    <p:sldId id="270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Inter Heavy" panose="02000503000000020004" pitchFamily="2" charset="0"/>
      <p:regular r:id="rId22"/>
      <p:bold r:id="rId23"/>
    </p:embeddedFont>
    <p:embeddedFont>
      <p:font typeface="Poppins" pitchFamily="2" charset="77"/>
      <p:regular r:id="rId24"/>
      <p:bold r:id="rId25"/>
      <p:italic r:id="rId26"/>
      <p:boldItalic r:id="rId27"/>
    </p:embeddedFont>
    <p:embeddedFont>
      <p:font typeface="Poppins Bold" pitchFamily="2" charset="77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AE94EE-624A-9770-14B3-1DC4C9DE7378}" v="328" dt="2024-12-04T15:19:22.335"/>
    <p1510:client id="{28BFE988-E84A-8844-A71E-222A67D9C070}" v="10" dt="2024-12-03T19:48:01.641"/>
    <p1510:client id="{F9AABFAA-B9A0-43C1-BAFF-1DBDB9450F11}" v="9" dt="2024-12-03T18:39:56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 autoAdjust="0"/>
    <p:restoredTop sz="94708" autoAdjust="0"/>
  </p:normalViewPr>
  <p:slideViewPr>
    <p:cSldViewPr>
      <p:cViewPr varScale="1">
        <p:scale>
          <a:sx n="59" d="100"/>
          <a:sy n="59" d="100"/>
        </p:scale>
        <p:origin x="944" y="-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8.sv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5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4.svg"/><Relationship Id="rId4" Type="http://schemas.openxmlformats.org/officeDocument/2006/relationships/image" Target="../media/image3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2.png"/><Relationship Id="rId5" Type="http://schemas.openxmlformats.org/officeDocument/2006/relationships/image" Target="../media/image5.png"/><Relationship Id="rId10" Type="http://schemas.openxmlformats.org/officeDocument/2006/relationships/image" Target="../media/image21.svg"/><Relationship Id="rId4" Type="http://schemas.openxmlformats.org/officeDocument/2006/relationships/image" Target="../media/image8.sv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5.svg"/><Relationship Id="rId7" Type="http://schemas.openxmlformats.org/officeDocument/2006/relationships/image" Target="../media/image4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0.svg"/><Relationship Id="rId7" Type="http://schemas.openxmlformats.org/officeDocument/2006/relationships/image" Target="../media/image8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3.png"/><Relationship Id="rId5" Type="http://schemas.openxmlformats.org/officeDocument/2006/relationships/image" Target="../media/image6.svg"/><Relationship Id="rId10" Type="http://schemas.openxmlformats.org/officeDocument/2006/relationships/image" Target="../media/image32.png"/><Relationship Id="rId4" Type="http://schemas.openxmlformats.org/officeDocument/2006/relationships/image" Target="../media/image5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3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3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9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39.png"/><Relationship Id="rId5" Type="http://schemas.openxmlformats.org/officeDocument/2006/relationships/image" Target="../media/image7.png"/><Relationship Id="rId10" Type="http://schemas.openxmlformats.org/officeDocument/2006/relationships/image" Target="../media/image38.svg"/><Relationship Id="rId4" Type="http://schemas.openxmlformats.org/officeDocument/2006/relationships/image" Target="../media/image10.sv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3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3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15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3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" TargetMode="External"/><Relationship Id="rId3" Type="http://schemas.openxmlformats.org/officeDocument/2006/relationships/image" Target="../media/image15.svg"/><Relationship Id="rId7" Type="http://schemas.openxmlformats.org/officeDocument/2006/relationships/image" Target="../media/image3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hyperlink" Target="https://nvlpubs.nist.gov/" TargetMode="External"/><Relationship Id="rId5" Type="http://schemas.openxmlformats.org/officeDocument/2006/relationships/image" Target="../media/image13.svg"/><Relationship Id="rId10" Type="http://schemas.openxmlformats.org/officeDocument/2006/relationships/hyperlink" Target="https://azure.microsoft.com/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aws.amazon.com/compliance/shared-responsibility-mode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31982" y="-190239"/>
            <a:ext cx="3015641" cy="5228051"/>
            <a:chOff x="0" y="0"/>
            <a:chExt cx="794243" cy="13769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94243" cy="1376935"/>
            </a:xfrm>
            <a:custGeom>
              <a:avLst/>
              <a:gdLst/>
              <a:ahLst/>
              <a:cxnLst/>
              <a:rect l="l" t="t" r="r" b="b"/>
              <a:pathLst>
                <a:path w="794243" h="1376935">
                  <a:moveTo>
                    <a:pt x="0" y="0"/>
                  </a:moveTo>
                  <a:lnTo>
                    <a:pt x="794243" y="0"/>
                  </a:lnTo>
                  <a:lnTo>
                    <a:pt x="794243" y="1376935"/>
                  </a:lnTo>
                  <a:lnTo>
                    <a:pt x="0" y="1376935"/>
                  </a:lnTo>
                  <a:close/>
                </a:path>
              </a:pathLst>
            </a:custGeom>
            <a:solidFill>
              <a:srgbClr val="F7F5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94243" cy="1415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148464" y="6418806"/>
            <a:ext cx="3015641" cy="5228051"/>
            <a:chOff x="0" y="0"/>
            <a:chExt cx="794243" cy="13769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4243" cy="1376935"/>
            </a:xfrm>
            <a:custGeom>
              <a:avLst/>
              <a:gdLst/>
              <a:ahLst/>
              <a:cxnLst/>
              <a:rect l="l" t="t" r="r" b="b"/>
              <a:pathLst>
                <a:path w="794243" h="1376935">
                  <a:moveTo>
                    <a:pt x="0" y="0"/>
                  </a:moveTo>
                  <a:lnTo>
                    <a:pt x="794243" y="0"/>
                  </a:lnTo>
                  <a:lnTo>
                    <a:pt x="794243" y="1376935"/>
                  </a:lnTo>
                  <a:lnTo>
                    <a:pt x="0" y="1376935"/>
                  </a:lnTo>
                  <a:close/>
                </a:path>
              </a:pathLst>
            </a:custGeom>
            <a:solidFill>
              <a:srgbClr val="F7F5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94243" cy="1415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909724" y="2253168"/>
            <a:ext cx="6361116" cy="5780664"/>
          </a:xfrm>
          <a:custGeom>
            <a:avLst/>
            <a:gdLst/>
            <a:ahLst/>
            <a:cxnLst/>
            <a:rect l="l" t="t" r="r" b="b"/>
            <a:pathLst>
              <a:path w="6361116" h="5780664">
                <a:moveTo>
                  <a:pt x="0" y="0"/>
                </a:moveTo>
                <a:lnTo>
                  <a:pt x="6361116" y="0"/>
                </a:lnTo>
                <a:lnTo>
                  <a:pt x="6361116" y="5780664"/>
                </a:lnTo>
                <a:lnTo>
                  <a:pt x="0" y="5780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-226107" y="-2763442"/>
            <a:ext cx="4916178" cy="491617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706016" y="8134264"/>
            <a:ext cx="4916178" cy="491617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81725" y="6630183"/>
            <a:ext cx="6863778" cy="746864"/>
            <a:chOff x="0" y="0"/>
            <a:chExt cx="1807744" cy="1967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07744" cy="196705"/>
            </a:xfrm>
            <a:custGeom>
              <a:avLst/>
              <a:gdLst/>
              <a:ahLst/>
              <a:cxnLst/>
              <a:rect l="l" t="t" r="r" b="b"/>
              <a:pathLst>
                <a:path w="1807744" h="196705">
                  <a:moveTo>
                    <a:pt x="98353" y="0"/>
                  </a:moveTo>
                  <a:lnTo>
                    <a:pt x="1709392" y="0"/>
                  </a:lnTo>
                  <a:cubicBezTo>
                    <a:pt x="1763710" y="0"/>
                    <a:pt x="1807744" y="44034"/>
                    <a:pt x="1807744" y="98353"/>
                  </a:cubicBezTo>
                  <a:lnTo>
                    <a:pt x="1807744" y="98353"/>
                  </a:lnTo>
                  <a:cubicBezTo>
                    <a:pt x="1807744" y="124437"/>
                    <a:pt x="1797382" y="149454"/>
                    <a:pt x="1778937" y="167898"/>
                  </a:cubicBezTo>
                  <a:cubicBezTo>
                    <a:pt x="1760493" y="186343"/>
                    <a:pt x="1735476" y="196705"/>
                    <a:pt x="1709392" y="196705"/>
                  </a:cubicBezTo>
                  <a:lnTo>
                    <a:pt x="98353" y="196705"/>
                  </a:lnTo>
                  <a:cubicBezTo>
                    <a:pt x="72268" y="196705"/>
                    <a:pt x="47251" y="186343"/>
                    <a:pt x="28807" y="167898"/>
                  </a:cubicBezTo>
                  <a:cubicBezTo>
                    <a:pt x="10362" y="149454"/>
                    <a:pt x="0" y="124437"/>
                    <a:pt x="0" y="98353"/>
                  </a:cubicBezTo>
                  <a:lnTo>
                    <a:pt x="0" y="98353"/>
                  </a:lnTo>
                  <a:cubicBezTo>
                    <a:pt x="0" y="72268"/>
                    <a:pt x="10362" y="47251"/>
                    <a:pt x="28807" y="28807"/>
                  </a:cubicBezTo>
                  <a:cubicBezTo>
                    <a:pt x="47251" y="10362"/>
                    <a:pt x="72268" y="0"/>
                    <a:pt x="98353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807744" cy="234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4969221" y="1028700"/>
            <a:ext cx="2290079" cy="1173666"/>
          </a:xfrm>
          <a:custGeom>
            <a:avLst/>
            <a:gdLst/>
            <a:ahLst/>
            <a:cxnLst/>
            <a:rect l="l" t="t" r="r" b="b"/>
            <a:pathLst>
              <a:path w="2290079" h="1173666">
                <a:moveTo>
                  <a:pt x="0" y="0"/>
                </a:moveTo>
                <a:lnTo>
                  <a:pt x="2290079" y="0"/>
                </a:lnTo>
                <a:lnTo>
                  <a:pt x="2290079" y="1173666"/>
                </a:lnTo>
                <a:lnTo>
                  <a:pt x="0" y="1173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774255" y="7849122"/>
            <a:ext cx="508889" cy="1507820"/>
          </a:xfrm>
          <a:custGeom>
            <a:avLst/>
            <a:gdLst/>
            <a:ahLst/>
            <a:cxnLst/>
            <a:rect l="l" t="t" r="r" b="b"/>
            <a:pathLst>
              <a:path w="508889" h="1507820">
                <a:moveTo>
                  <a:pt x="0" y="0"/>
                </a:moveTo>
                <a:lnTo>
                  <a:pt x="508890" y="0"/>
                </a:lnTo>
                <a:lnTo>
                  <a:pt x="508890" y="1507820"/>
                </a:lnTo>
                <a:lnTo>
                  <a:pt x="0" y="1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5497330" y="8741668"/>
            <a:ext cx="1761970" cy="447100"/>
          </a:xfrm>
          <a:custGeom>
            <a:avLst/>
            <a:gdLst/>
            <a:ahLst/>
            <a:cxnLst/>
            <a:rect l="l" t="t" r="r" b="b"/>
            <a:pathLst>
              <a:path w="1761970" h="447100">
                <a:moveTo>
                  <a:pt x="0" y="0"/>
                </a:moveTo>
                <a:lnTo>
                  <a:pt x="1761970" y="0"/>
                </a:lnTo>
                <a:lnTo>
                  <a:pt x="1761970" y="447100"/>
                </a:lnTo>
                <a:lnTo>
                  <a:pt x="0" y="447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8781725" y="2604761"/>
            <a:ext cx="7624734" cy="3539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 b="1" dirty="0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Cloud Computing Security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60100" y="6749665"/>
            <a:ext cx="5907028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Presented By : Samuel &amp; Vincent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14625" y="-789140"/>
            <a:ext cx="3015641" cy="11865279"/>
            <a:chOff x="0" y="0"/>
            <a:chExt cx="794243" cy="31250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94243" cy="3125012"/>
            </a:xfrm>
            <a:custGeom>
              <a:avLst/>
              <a:gdLst/>
              <a:ahLst/>
              <a:cxnLst/>
              <a:rect l="l" t="t" r="r" b="b"/>
              <a:pathLst>
                <a:path w="794243" h="3125012">
                  <a:moveTo>
                    <a:pt x="0" y="0"/>
                  </a:moveTo>
                  <a:lnTo>
                    <a:pt x="794243" y="0"/>
                  </a:lnTo>
                  <a:lnTo>
                    <a:pt x="794243" y="3125012"/>
                  </a:lnTo>
                  <a:lnTo>
                    <a:pt x="0" y="3125012"/>
                  </a:lnTo>
                  <a:close/>
                </a:path>
              </a:pathLst>
            </a:custGeom>
            <a:solidFill>
              <a:srgbClr val="F7F5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94243" cy="3163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9438" y="2160492"/>
            <a:ext cx="5966016" cy="596601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497330" y="8811200"/>
            <a:ext cx="1761970" cy="447100"/>
          </a:xfrm>
          <a:custGeom>
            <a:avLst/>
            <a:gdLst/>
            <a:ahLst/>
            <a:cxnLst/>
            <a:rect l="l" t="t" r="r" b="b"/>
            <a:pathLst>
              <a:path w="1761970" h="447100">
                <a:moveTo>
                  <a:pt x="0" y="0"/>
                </a:moveTo>
                <a:lnTo>
                  <a:pt x="1761970" y="0"/>
                </a:lnTo>
                <a:lnTo>
                  <a:pt x="1761970" y="447100"/>
                </a:lnTo>
                <a:lnTo>
                  <a:pt x="0" y="447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8150529" y="1966730"/>
            <a:ext cx="775048" cy="77504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150529" y="3082428"/>
            <a:ext cx="775048" cy="77504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5400000">
            <a:off x="16250945" y="417376"/>
            <a:ext cx="508889" cy="1507820"/>
          </a:xfrm>
          <a:custGeom>
            <a:avLst/>
            <a:gdLst/>
            <a:ahLst/>
            <a:cxnLst/>
            <a:rect l="l" t="t" r="r" b="b"/>
            <a:pathLst>
              <a:path w="508889" h="1507820">
                <a:moveTo>
                  <a:pt x="0" y="0"/>
                </a:moveTo>
                <a:lnTo>
                  <a:pt x="508889" y="0"/>
                </a:lnTo>
                <a:lnTo>
                  <a:pt x="508889" y="1507820"/>
                </a:lnTo>
                <a:lnTo>
                  <a:pt x="0" y="1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8150529" y="4198127"/>
            <a:ext cx="775048" cy="77504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150529" y="5313825"/>
            <a:ext cx="775048" cy="775048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50529" y="6429524"/>
            <a:ext cx="775048" cy="775048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50529" y="7545222"/>
            <a:ext cx="775048" cy="775048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992969" y="1973217"/>
            <a:ext cx="1443312" cy="1599238"/>
          </a:xfrm>
          <a:custGeom>
            <a:avLst/>
            <a:gdLst/>
            <a:ahLst/>
            <a:cxnLst/>
            <a:rect l="l" t="t" r="r" b="b"/>
            <a:pathLst>
              <a:path w="1443312" h="1599238">
                <a:moveTo>
                  <a:pt x="0" y="0"/>
                </a:moveTo>
                <a:lnTo>
                  <a:pt x="1443312" y="0"/>
                </a:lnTo>
                <a:lnTo>
                  <a:pt x="1443312" y="1599237"/>
                </a:lnTo>
                <a:lnTo>
                  <a:pt x="0" y="15992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239438" y="4217068"/>
            <a:ext cx="5966016" cy="199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 b="1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TABLE OF CONTENT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72184" y="2100304"/>
            <a:ext cx="5907028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90161" y="2100304"/>
            <a:ext cx="495784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FFCC33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90161" y="3216002"/>
            <a:ext cx="495784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FFCC33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72184" y="4352910"/>
            <a:ext cx="5907028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Threats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44000" y="5480736"/>
            <a:ext cx="5907028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Security Mechanisms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72184" y="3249339"/>
            <a:ext cx="7936244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Security Models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72184" y="6563097"/>
            <a:ext cx="5907028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Algorithm Demo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72184" y="7678795"/>
            <a:ext cx="5907028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Challenges &amp; Future Trends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90161" y="4331700"/>
            <a:ext cx="495784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FFCC33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90161" y="5447399"/>
            <a:ext cx="495784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FFCC33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90161" y="6563097"/>
            <a:ext cx="495784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FFCC33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90161" y="7712133"/>
            <a:ext cx="495784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FFCC33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grpSp>
        <p:nvGrpSpPr>
          <p:cNvPr id="42" name="Group 25">
            <a:extLst>
              <a:ext uri="{FF2B5EF4-FFF2-40B4-BE49-F238E27FC236}">
                <a16:creationId xmlns:a16="http://schemas.microsoft.com/office/drawing/2014/main" id="{23ADFEBA-BBA7-C5BC-4512-C60B0D0028A0}"/>
              </a:ext>
            </a:extLst>
          </p:cNvPr>
          <p:cNvGrpSpPr/>
          <p:nvPr/>
        </p:nvGrpSpPr>
        <p:grpSpPr>
          <a:xfrm>
            <a:off x="8150529" y="8535038"/>
            <a:ext cx="775048" cy="775048"/>
            <a:chOff x="0" y="0"/>
            <a:chExt cx="812800" cy="812800"/>
          </a:xfrm>
        </p:grpSpPr>
        <p:sp>
          <p:nvSpPr>
            <p:cNvPr id="43" name="Freeform 26">
              <a:extLst>
                <a:ext uri="{FF2B5EF4-FFF2-40B4-BE49-F238E27FC236}">
                  <a16:creationId xmlns:a16="http://schemas.microsoft.com/office/drawing/2014/main" id="{DE2CF6B6-5D8B-32C7-9783-92B2B4F8144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27">
              <a:extLst>
                <a:ext uri="{FF2B5EF4-FFF2-40B4-BE49-F238E27FC236}">
                  <a16:creationId xmlns:a16="http://schemas.microsoft.com/office/drawing/2014/main" id="{F37061ED-2793-9B69-A539-1ABEE1E9C45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0" name="TextBox 41">
            <a:extLst>
              <a:ext uri="{FF2B5EF4-FFF2-40B4-BE49-F238E27FC236}">
                <a16:creationId xmlns:a16="http://schemas.microsoft.com/office/drawing/2014/main" id="{28D8A578-C9F0-4A6A-98EB-B0E7BB71F951}"/>
              </a:ext>
            </a:extLst>
          </p:cNvPr>
          <p:cNvSpPr txBox="1"/>
          <p:nvPr/>
        </p:nvSpPr>
        <p:spPr>
          <a:xfrm>
            <a:off x="8290161" y="8690055"/>
            <a:ext cx="495784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FFCC33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1F2F53-B4F2-933B-C3AA-0EDC9650E989}"/>
              </a:ext>
            </a:extLst>
          </p:cNvPr>
          <p:cNvSpPr txBox="1"/>
          <p:nvPr/>
        </p:nvSpPr>
        <p:spPr>
          <a:xfrm>
            <a:off x="9172184" y="8690055"/>
            <a:ext cx="47244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Poppins" panose="00000500000000000000" pitchFamily="2" charset="0"/>
                <a:cs typeface="Poppins" panose="00000500000000000000" pitchFamily="2" charset="0"/>
              </a:rPr>
              <a:t>Conclusion &amp; Q&amp;A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72472" y="6742738"/>
            <a:ext cx="5402345" cy="540234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2376" y="5261093"/>
            <a:ext cx="9335804" cy="3616728"/>
            <a:chOff x="0" y="0"/>
            <a:chExt cx="6556462" cy="254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56463" cy="2540000"/>
            </a:xfrm>
            <a:custGeom>
              <a:avLst/>
              <a:gdLst/>
              <a:ahLst/>
              <a:cxnLst/>
              <a:rect l="l" t="t" r="r" b="b"/>
              <a:pathLst>
                <a:path w="6556463" h="2540000">
                  <a:moveTo>
                    <a:pt x="0" y="1270000"/>
                  </a:moveTo>
                  <a:cubicBezTo>
                    <a:pt x="0" y="568960"/>
                    <a:pt x="587459" y="0"/>
                    <a:pt x="1311293" y="0"/>
                  </a:cubicBezTo>
                  <a:lnTo>
                    <a:pt x="5245170" y="0"/>
                  </a:lnTo>
                  <a:cubicBezTo>
                    <a:pt x="5969003" y="0"/>
                    <a:pt x="6556463" y="568960"/>
                    <a:pt x="6556463" y="1270000"/>
                  </a:cubicBezTo>
                  <a:cubicBezTo>
                    <a:pt x="6556463" y="1971040"/>
                    <a:pt x="5969003" y="2540000"/>
                    <a:pt x="5245170" y="2540000"/>
                  </a:cubicBezTo>
                  <a:lnTo>
                    <a:pt x="1311293" y="2540000"/>
                  </a:lnTo>
                  <a:cubicBezTo>
                    <a:pt x="587459" y="2540000"/>
                    <a:pt x="0" y="1971040"/>
                    <a:pt x="0" y="1270000"/>
                  </a:cubicBezTo>
                  <a:close/>
                </a:path>
              </a:pathLst>
            </a:custGeom>
            <a:blipFill>
              <a:blip r:embed="rId2"/>
              <a:stretch>
                <a:fillRect t="-35989" b="-359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677890" y="-3596000"/>
            <a:ext cx="9249401" cy="924940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86552" y="1028700"/>
            <a:ext cx="5514745" cy="551474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8888" r="-38888"/>
              </a:stretch>
            </a:blipFill>
            <a:ln w="2095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619721" y="5143500"/>
            <a:ext cx="1443312" cy="1599238"/>
          </a:xfrm>
          <a:custGeom>
            <a:avLst/>
            <a:gdLst/>
            <a:ahLst/>
            <a:cxnLst/>
            <a:rect l="l" t="t" r="r" b="b"/>
            <a:pathLst>
              <a:path w="1443312" h="1599238">
                <a:moveTo>
                  <a:pt x="0" y="0"/>
                </a:moveTo>
                <a:lnTo>
                  <a:pt x="1443312" y="0"/>
                </a:lnTo>
                <a:lnTo>
                  <a:pt x="1443312" y="1599238"/>
                </a:lnTo>
                <a:lnTo>
                  <a:pt x="0" y="1599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5497330" y="8811200"/>
            <a:ext cx="1761970" cy="447100"/>
          </a:xfrm>
          <a:custGeom>
            <a:avLst/>
            <a:gdLst/>
            <a:ahLst/>
            <a:cxnLst/>
            <a:rect l="l" t="t" r="r" b="b"/>
            <a:pathLst>
              <a:path w="1761970" h="447100">
                <a:moveTo>
                  <a:pt x="0" y="0"/>
                </a:moveTo>
                <a:lnTo>
                  <a:pt x="1761970" y="0"/>
                </a:lnTo>
                <a:lnTo>
                  <a:pt x="1761970" y="447100"/>
                </a:lnTo>
                <a:lnTo>
                  <a:pt x="0" y="447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0765654" y="6442812"/>
            <a:ext cx="4044341" cy="5228051"/>
            <a:chOff x="0" y="0"/>
            <a:chExt cx="1065176" cy="13769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5176" cy="1376935"/>
            </a:xfrm>
            <a:custGeom>
              <a:avLst/>
              <a:gdLst/>
              <a:ahLst/>
              <a:cxnLst/>
              <a:rect l="l" t="t" r="r" b="b"/>
              <a:pathLst>
                <a:path w="1065176" h="1376935">
                  <a:moveTo>
                    <a:pt x="191426" y="0"/>
                  </a:moveTo>
                  <a:lnTo>
                    <a:pt x="873750" y="0"/>
                  </a:lnTo>
                  <a:cubicBezTo>
                    <a:pt x="924520" y="0"/>
                    <a:pt x="973210" y="20168"/>
                    <a:pt x="1009109" y="56067"/>
                  </a:cubicBezTo>
                  <a:cubicBezTo>
                    <a:pt x="1045008" y="91967"/>
                    <a:pt x="1065176" y="140657"/>
                    <a:pt x="1065176" y="191426"/>
                  </a:cubicBezTo>
                  <a:lnTo>
                    <a:pt x="1065176" y="1185509"/>
                  </a:lnTo>
                  <a:cubicBezTo>
                    <a:pt x="1065176" y="1236279"/>
                    <a:pt x="1045008" y="1284968"/>
                    <a:pt x="1009109" y="1320868"/>
                  </a:cubicBezTo>
                  <a:cubicBezTo>
                    <a:pt x="973210" y="1356767"/>
                    <a:pt x="924520" y="1376935"/>
                    <a:pt x="873750" y="1376935"/>
                  </a:cubicBezTo>
                  <a:lnTo>
                    <a:pt x="191426" y="1376935"/>
                  </a:lnTo>
                  <a:cubicBezTo>
                    <a:pt x="140657" y="1376935"/>
                    <a:pt x="91967" y="1356767"/>
                    <a:pt x="56067" y="1320868"/>
                  </a:cubicBezTo>
                  <a:cubicBezTo>
                    <a:pt x="20168" y="1284968"/>
                    <a:pt x="0" y="1236279"/>
                    <a:pt x="0" y="1185509"/>
                  </a:cubicBezTo>
                  <a:lnTo>
                    <a:pt x="0" y="191426"/>
                  </a:lnTo>
                  <a:cubicBezTo>
                    <a:pt x="0" y="140657"/>
                    <a:pt x="20168" y="91967"/>
                    <a:pt x="56067" y="56067"/>
                  </a:cubicBezTo>
                  <a:cubicBezTo>
                    <a:pt x="91967" y="20168"/>
                    <a:pt x="140657" y="0"/>
                    <a:pt x="191426" y="0"/>
                  </a:cubicBezTo>
                  <a:close/>
                </a:path>
              </a:pathLst>
            </a:custGeom>
            <a:solidFill>
              <a:srgbClr val="F7F5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65176" cy="1415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1171575"/>
            <a:ext cx="10334468" cy="1024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b="1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INTRODUCTION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236021"/>
            <a:ext cx="8924012" cy="2221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computing enables on-demand access to shared resources over the internet, but it introduces unique security challenges</a:t>
            </a:r>
            <a:r>
              <a:rPr lang="en-US" sz="250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. </a:t>
            </a:r>
            <a:r>
              <a:rPr lang="en-US" sz="2500" dirty="0">
                <a:latin typeface="Poppins" panose="00000500000000000000" pitchFamily="2" charset="0"/>
                <a:cs typeface="Poppins" panose="00000500000000000000" pitchFamily="2" charset="0"/>
              </a:rPr>
              <a:t>Ensuring confidentiality, integrity, and availability of data stored and processed in the cloud.</a:t>
            </a:r>
            <a:endParaRPr lang="en-US" sz="250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EC36E0-CF82-940E-0F4C-11EBF245B900}"/>
              </a:ext>
            </a:extLst>
          </p:cNvPr>
          <p:cNvSpPr txBox="1"/>
          <p:nvPr/>
        </p:nvSpPr>
        <p:spPr>
          <a:xfrm>
            <a:off x="10983539" y="6655237"/>
            <a:ext cx="354384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Poppins" panose="00000500000000000000" pitchFamily="2" charset="0"/>
                <a:cs typeface="Poppins" panose="00000500000000000000" pitchFamily="2" charset="0"/>
              </a:rPr>
              <a:t>Cloud is widely used for storage, computing, and business operations.</a:t>
            </a:r>
          </a:p>
          <a:p>
            <a:endParaRPr lang="en-US" sz="23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Poppins" panose="00000500000000000000" pitchFamily="2" charset="0"/>
                <a:cs typeface="Poppins" panose="00000500000000000000" pitchFamily="2" charset="0"/>
              </a:rPr>
              <a:t> Security breaches can lead to significant financial and reputational damage.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56415" y="3448383"/>
            <a:ext cx="8453215" cy="84532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022899" y="-3300645"/>
            <a:ext cx="4916178" cy="491617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528166" y="8249945"/>
            <a:ext cx="508889" cy="1507820"/>
          </a:xfrm>
          <a:custGeom>
            <a:avLst/>
            <a:gdLst/>
            <a:ahLst/>
            <a:cxnLst/>
            <a:rect l="l" t="t" r="r" b="b"/>
            <a:pathLst>
              <a:path w="508889" h="1507820">
                <a:moveTo>
                  <a:pt x="0" y="0"/>
                </a:moveTo>
                <a:lnTo>
                  <a:pt x="508889" y="0"/>
                </a:lnTo>
                <a:lnTo>
                  <a:pt x="508889" y="1507821"/>
                </a:lnTo>
                <a:lnTo>
                  <a:pt x="0" y="1507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5208781" y="751886"/>
            <a:ext cx="2290079" cy="1173666"/>
          </a:xfrm>
          <a:custGeom>
            <a:avLst/>
            <a:gdLst/>
            <a:ahLst/>
            <a:cxnLst/>
            <a:rect l="l" t="t" r="r" b="b"/>
            <a:pathLst>
              <a:path w="2290079" h="1173666">
                <a:moveTo>
                  <a:pt x="0" y="0"/>
                </a:moveTo>
                <a:lnTo>
                  <a:pt x="2290079" y="0"/>
                </a:lnTo>
                <a:lnTo>
                  <a:pt x="2290079" y="1173666"/>
                </a:lnTo>
                <a:lnTo>
                  <a:pt x="0" y="1173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17265" y="847419"/>
            <a:ext cx="7393644" cy="197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b="1" dirty="0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Cloud Security Models</a:t>
            </a:r>
          </a:p>
        </p:txBody>
      </p:sp>
      <p:sp>
        <p:nvSpPr>
          <p:cNvPr id="13" name="Freeform 13"/>
          <p:cNvSpPr/>
          <p:nvPr/>
        </p:nvSpPr>
        <p:spPr>
          <a:xfrm>
            <a:off x="8422344" y="1338719"/>
            <a:ext cx="1443312" cy="1599238"/>
          </a:xfrm>
          <a:custGeom>
            <a:avLst/>
            <a:gdLst/>
            <a:ahLst/>
            <a:cxnLst/>
            <a:rect l="l" t="t" r="r" b="b"/>
            <a:pathLst>
              <a:path w="1443312" h="1599238">
                <a:moveTo>
                  <a:pt x="0" y="0"/>
                </a:moveTo>
                <a:lnTo>
                  <a:pt x="1443312" y="0"/>
                </a:lnTo>
                <a:lnTo>
                  <a:pt x="1443312" y="1599238"/>
                </a:lnTo>
                <a:lnTo>
                  <a:pt x="0" y="1599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D1070F-F301-9511-E48A-1652E7D21B3B}"/>
              </a:ext>
            </a:extLst>
          </p:cNvPr>
          <p:cNvSpPr txBox="1"/>
          <p:nvPr/>
        </p:nvSpPr>
        <p:spPr>
          <a:xfrm>
            <a:off x="1242431" y="3122035"/>
            <a:ext cx="11560936" cy="6235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Poppins" pitchFamily="2" charset="77"/>
                <a:cs typeface="Poppins" pitchFamily="2" charset="77"/>
              </a:rPr>
              <a:t>Shared Responsibility Model </a:t>
            </a:r>
            <a:r>
              <a:rPr lang="en-US" sz="2500" dirty="0">
                <a:latin typeface="Poppins" pitchFamily="2" charset="77"/>
                <a:cs typeface="Poppins" pitchFamily="2" charset="77"/>
              </a:rPr>
              <a:t>Cloud provider handles physical infrastructure security.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Poppins" pitchFamily="2" charset="77"/>
                <a:cs typeface="Poppins" pitchFamily="2" charset="77"/>
              </a:rPr>
              <a:t>Customer handles data, applications, and user access security.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Poppins" pitchFamily="2" charset="77"/>
                <a:cs typeface="Poppins" pitchFamily="2" charset="77"/>
              </a:rPr>
              <a:t>Example: AWS's shared responsibility model.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Poppins" pitchFamily="2" charset="77"/>
                <a:cs typeface="Poppins" pitchFamily="2" charset="77"/>
              </a:rPr>
              <a:t>Public Cloud </a:t>
            </a:r>
            <a:r>
              <a:rPr lang="en-US" sz="2500" dirty="0">
                <a:latin typeface="Poppins" pitchFamily="2" charset="77"/>
                <a:cs typeface="Poppins" pitchFamily="2" charset="77"/>
              </a:rPr>
              <a:t>Open to multiple tenants.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Poppins" pitchFamily="2" charset="77"/>
                <a:cs typeface="Poppins" pitchFamily="2" charset="77"/>
              </a:rPr>
              <a:t>Cost-effective but higher risks.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Poppins" pitchFamily="2" charset="77"/>
                <a:cs typeface="Poppins" pitchFamily="2" charset="77"/>
              </a:rPr>
              <a:t>Private Cloud </a:t>
            </a:r>
            <a:r>
              <a:rPr lang="en-US" sz="2500" dirty="0">
                <a:latin typeface="Poppins" pitchFamily="2" charset="77"/>
                <a:cs typeface="Poppins" pitchFamily="2" charset="77"/>
              </a:rPr>
              <a:t>Dedicated resources for one organization.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Poppins" pitchFamily="2" charset="77"/>
                <a:cs typeface="Poppins" pitchFamily="2" charset="77"/>
              </a:rPr>
              <a:t>Enhanced security and control.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Poppins" pitchFamily="2" charset="77"/>
                <a:cs typeface="Poppins" pitchFamily="2" charset="77"/>
              </a:rPr>
              <a:t>Hybrid Cloud </a:t>
            </a:r>
            <a:r>
              <a:rPr lang="en-US" sz="2500" dirty="0">
                <a:latin typeface="Poppins" pitchFamily="2" charset="77"/>
                <a:cs typeface="Poppins" pitchFamily="2" charset="77"/>
              </a:rPr>
              <a:t>Combines public and private clouds.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Poppins" pitchFamily="2" charset="77"/>
                <a:cs typeface="Poppins" pitchFamily="2" charset="77"/>
              </a:rPr>
              <a:t>Balances cost and security.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C771FF1-C684-1E01-ACA4-A8C3FC5C4D7F}"/>
              </a:ext>
            </a:extLst>
          </p:cNvPr>
          <p:cNvSpPr/>
          <p:nvPr/>
        </p:nvSpPr>
        <p:spPr>
          <a:xfrm>
            <a:off x="12867897" y="4784658"/>
            <a:ext cx="6361116" cy="5780664"/>
          </a:xfrm>
          <a:custGeom>
            <a:avLst/>
            <a:gdLst/>
            <a:ahLst/>
            <a:cxnLst/>
            <a:rect l="l" t="t" r="r" b="b"/>
            <a:pathLst>
              <a:path w="6361116" h="5780664">
                <a:moveTo>
                  <a:pt x="0" y="0"/>
                </a:moveTo>
                <a:lnTo>
                  <a:pt x="6361116" y="0"/>
                </a:lnTo>
                <a:lnTo>
                  <a:pt x="6361116" y="5780664"/>
                </a:lnTo>
                <a:lnTo>
                  <a:pt x="0" y="57806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3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0956" y="5662300"/>
            <a:ext cx="9249401" cy="924940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6426" y="3887218"/>
            <a:ext cx="8741036" cy="5246370"/>
            <a:chOff x="0" y="0"/>
            <a:chExt cx="6350000" cy="38112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3811270"/>
            </a:xfrm>
            <a:custGeom>
              <a:avLst/>
              <a:gdLst/>
              <a:ahLst/>
              <a:cxnLst/>
              <a:rect l="l" t="t" r="r" b="b"/>
              <a:pathLst>
                <a:path w="6350000" h="381127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2"/>
              <a:stretch>
                <a:fillRect t="-24958"/>
              </a:stretch>
            </a:blipFill>
            <a:ln w="2095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137936" y="7363374"/>
            <a:ext cx="1085067" cy="108506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044123" y="7367814"/>
            <a:ext cx="1085067" cy="108506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211303" y="7360782"/>
            <a:ext cx="1085067" cy="108506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74253" y="3887218"/>
            <a:ext cx="835432" cy="447100"/>
          </a:xfrm>
          <a:custGeom>
            <a:avLst/>
            <a:gdLst/>
            <a:ahLst/>
            <a:cxnLst/>
            <a:rect l="l" t="t" r="r" b="b"/>
            <a:pathLst>
              <a:path w="835432" h="447100">
                <a:moveTo>
                  <a:pt x="0" y="0"/>
                </a:moveTo>
                <a:lnTo>
                  <a:pt x="835432" y="0"/>
                </a:lnTo>
                <a:lnTo>
                  <a:pt x="835432" y="447100"/>
                </a:lnTo>
                <a:lnTo>
                  <a:pt x="0" y="447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090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 rot="-5400000">
            <a:off x="10566190" y="9051447"/>
            <a:ext cx="508889" cy="1507820"/>
          </a:xfrm>
          <a:custGeom>
            <a:avLst/>
            <a:gdLst/>
            <a:ahLst/>
            <a:cxnLst/>
            <a:rect l="l" t="t" r="r" b="b"/>
            <a:pathLst>
              <a:path w="508889" h="1507820">
                <a:moveTo>
                  <a:pt x="0" y="0"/>
                </a:moveTo>
                <a:lnTo>
                  <a:pt x="508890" y="0"/>
                </a:lnTo>
                <a:lnTo>
                  <a:pt x="508890" y="1507821"/>
                </a:lnTo>
                <a:lnTo>
                  <a:pt x="0" y="1507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rot="-5400000">
            <a:off x="12578302" y="9061862"/>
            <a:ext cx="508889" cy="1507820"/>
          </a:xfrm>
          <a:custGeom>
            <a:avLst/>
            <a:gdLst/>
            <a:ahLst/>
            <a:cxnLst/>
            <a:rect l="l" t="t" r="r" b="b"/>
            <a:pathLst>
              <a:path w="508889" h="1507820">
                <a:moveTo>
                  <a:pt x="0" y="0"/>
                </a:moveTo>
                <a:lnTo>
                  <a:pt x="508889" y="0"/>
                </a:lnTo>
                <a:lnTo>
                  <a:pt x="508889" y="1507821"/>
                </a:lnTo>
                <a:lnTo>
                  <a:pt x="0" y="1507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 rot="-5400000">
            <a:off x="14623345" y="9061862"/>
            <a:ext cx="508889" cy="1507820"/>
          </a:xfrm>
          <a:custGeom>
            <a:avLst/>
            <a:gdLst/>
            <a:ahLst/>
            <a:cxnLst/>
            <a:rect l="l" t="t" r="r" b="b"/>
            <a:pathLst>
              <a:path w="508889" h="1507820">
                <a:moveTo>
                  <a:pt x="0" y="0"/>
                </a:moveTo>
                <a:lnTo>
                  <a:pt x="508890" y="0"/>
                </a:lnTo>
                <a:lnTo>
                  <a:pt x="508890" y="1507821"/>
                </a:lnTo>
                <a:lnTo>
                  <a:pt x="0" y="1507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-5400000">
            <a:off x="16713047" y="9051448"/>
            <a:ext cx="508889" cy="1507820"/>
          </a:xfrm>
          <a:custGeom>
            <a:avLst/>
            <a:gdLst/>
            <a:ahLst/>
            <a:cxnLst/>
            <a:rect l="l" t="t" r="r" b="b"/>
            <a:pathLst>
              <a:path w="508889" h="1507820">
                <a:moveTo>
                  <a:pt x="0" y="0"/>
                </a:moveTo>
                <a:lnTo>
                  <a:pt x="508889" y="0"/>
                </a:lnTo>
                <a:lnTo>
                  <a:pt x="508889" y="1507821"/>
                </a:lnTo>
                <a:lnTo>
                  <a:pt x="0" y="1507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3238582" y="7603102"/>
            <a:ext cx="696148" cy="600428"/>
          </a:xfrm>
          <a:custGeom>
            <a:avLst/>
            <a:gdLst/>
            <a:ahLst/>
            <a:cxnLst/>
            <a:rect l="l" t="t" r="r" b="b"/>
            <a:pathLst>
              <a:path w="696148" h="600428">
                <a:moveTo>
                  <a:pt x="0" y="0"/>
                </a:moveTo>
                <a:lnTo>
                  <a:pt x="696148" y="0"/>
                </a:lnTo>
                <a:lnTo>
                  <a:pt x="696148" y="600428"/>
                </a:lnTo>
                <a:lnTo>
                  <a:pt x="0" y="600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028700" y="1171575"/>
            <a:ext cx="10334468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b="1" dirty="0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Key Threats in </a:t>
            </a:r>
          </a:p>
          <a:p>
            <a:pPr algn="l">
              <a:lnSpc>
                <a:spcPts val="7700"/>
              </a:lnSpc>
            </a:pPr>
            <a:r>
              <a:rPr lang="en-US" sz="7700" b="1" dirty="0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Cloud Security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78101" y="1255738"/>
            <a:ext cx="6981199" cy="1556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Breaches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Unauthorized access to sensitive information.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Example: Capital One Breach (2019) – exposed 100M+ customer records due to misconfigured firewall.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FC4D74-A6B1-E32A-2B36-1CFDFCF17DFA}"/>
              </a:ext>
            </a:extLst>
          </p:cNvPr>
          <p:cNvSpPr txBox="1"/>
          <p:nvPr/>
        </p:nvSpPr>
        <p:spPr>
          <a:xfrm>
            <a:off x="10278100" y="3146475"/>
            <a:ext cx="6981199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Poppins" panose="00000500000000000000" pitchFamily="2" charset="0"/>
                <a:cs typeface="Poppins" panose="00000500000000000000" pitchFamily="2" charset="0"/>
              </a:rPr>
              <a:t>Insider Threats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Employees or contractors misusing privileges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Example: Code Spaces Attack(2014) –insider sabotage destroyed customer data.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DAB044-9C27-7AB2-5B4D-14DEACA558DE}"/>
              </a:ext>
            </a:extLst>
          </p:cNvPr>
          <p:cNvSpPr txBox="1"/>
          <p:nvPr/>
        </p:nvSpPr>
        <p:spPr>
          <a:xfrm>
            <a:off x="10278100" y="5143500"/>
            <a:ext cx="6981199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Poppins" panose="00000500000000000000" pitchFamily="2" charset="0"/>
                <a:cs typeface="Poppins" panose="00000500000000000000" pitchFamily="2" charset="0"/>
              </a:rPr>
              <a:t>DDoS Attacks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Overloading cloud resources to disrupt services.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Example: Targeting AWS during high-traffic events.</a:t>
            </a:r>
          </a:p>
        </p:txBody>
      </p:sp>
      <p:pic>
        <p:nvPicPr>
          <p:cNvPr id="34" name="Graphic 33" descr="Lock with solid fill">
            <a:extLst>
              <a:ext uri="{FF2B5EF4-FFF2-40B4-BE49-F238E27FC236}">
                <a16:creationId xmlns:a16="http://schemas.microsoft.com/office/drawing/2014/main" id="{CF8B7E8B-A47E-8D64-92EF-E9F777D537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99181" y="7446115"/>
            <a:ext cx="914400" cy="914400"/>
          </a:xfrm>
          <a:prstGeom prst="rect">
            <a:avLst/>
          </a:prstGeom>
        </p:spPr>
      </p:pic>
      <p:pic>
        <p:nvPicPr>
          <p:cNvPr id="38" name="Graphic 37" descr="Cloud Computing with solid fill">
            <a:extLst>
              <a:ext uri="{FF2B5EF4-FFF2-40B4-BE49-F238E27FC236}">
                <a16:creationId xmlns:a16="http://schemas.microsoft.com/office/drawing/2014/main" id="{7D7DCF47-4122-1EC8-4AD7-8C10F4BC51C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63137" y="7450736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10816" y="5282833"/>
            <a:ext cx="8453215" cy="84532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744621" y="2138338"/>
            <a:ext cx="6514679" cy="6115655"/>
          </a:xfrm>
          <a:custGeom>
            <a:avLst/>
            <a:gdLst/>
            <a:ahLst/>
            <a:cxnLst/>
            <a:rect l="l" t="t" r="r" b="b"/>
            <a:pathLst>
              <a:path w="6514679" h="6115655">
                <a:moveTo>
                  <a:pt x="0" y="0"/>
                </a:moveTo>
                <a:lnTo>
                  <a:pt x="6514679" y="0"/>
                </a:lnTo>
                <a:lnTo>
                  <a:pt x="6514679" y="6115655"/>
                </a:lnTo>
                <a:lnTo>
                  <a:pt x="0" y="6115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7022899" y="-3300645"/>
            <a:ext cx="4916178" cy="491617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528166" y="8249945"/>
            <a:ext cx="508889" cy="1507820"/>
          </a:xfrm>
          <a:custGeom>
            <a:avLst/>
            <a:gdLst/>
            <a:ahLst/>
            <a:cxnLst/>
            <a:rect l="l" t="t" r="r" b="b"/>
            <a:pathLst>
              <a:path w="508889" h="1507820">
                <a:moveTo>
                  <a:pt x="0" y="0"/>
                </a:moveTo>
                <a:lnTo>
                  <a:pt x="508889" y="0"/>
                </a:lnTo>
                <a:lnTo>
                  <a:pt x="508889" y="1507821"/>
                </a:lnTo>
                <a:lnTo>
                  <a:pt x="0" y="1507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5208781" y="751886"/>
            <a:ext cx="2290079" cy="1173666"/>
          </a:xfrm>
          <a:custGeom>
            <a:avLst/>
            <a:gdLst/>
            <a:ahLst/>
            <a:cxnLst/>
            <a:rect l="l" t="t" r="r" b="b"/>
            <a:pathLst>
              <a:path w="2290079" h="1173666">
                <a:moveTo>
                  <a:pt x="0" y="0"/>
                </a:moveTo>
                <a:lnTo>
                  <a:pt x="2290079" y="0"/>
                </a:lnTo>
                <a:lnTo>
                  <a:pt x="2290079" y="1173666"/>
                </a:lnTo>
                <a:lnTo>
                  <a:pt x="0" y="11736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1368860"/>
            <a:ext cx="5994199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b="1" dirty="0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Mitigating Cloud Risks</a:t>
            </a:r>
          </a:p>
        </p:txBody>
      </p:sp>
      <p:sp>
        <p:nvSpPr>
          <p:cNvPr id="13" name="Freeform 13"/>
          <p:cNvSpPr/>
          <p:nvPr/>
        </p:nvSpPr>
        <p:spPr>
          <a:xfrm>
            <a:off x="8422344" y="1338719"/>
            <a:ext cx="1443312" cy="1599238"/>
          </a:xfrm>
          <a:custGeom>
            <a:avLst/>
            <a:gdLst/>
            <a:ahLst/>
            <a:cxnLst/>
            <a:rect l="l" t="t" r="r" b="b"/>
            <a:pathLst>
              <a:path w="1443312" h="1599238">
                <a:moveTo>
                  <a:pt x="0" y="0"/>
                </a:moveTo>
                <a:lnTo>
                  <a:pt x="1443312" y="0"/>
                </a:lnTo>
                <a:lnTo>
                  <a:pt x="1443312" y="1599238"/>
                </a:lnTo>
                <a:lnTo>
                  <a:pt x="0" y="15992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D1070F-F301-9511-E48A-1652E7D21B3B}"/>
              </a:ext>
            </a:extLst>
          </p:cNvPr>
          <p:cNvSpPr txBox="1"/>
          <p:nvPr/>
        </p:nvSpPr>
        <p:spPr>
          <a:xfrm>
            <a:off x="1088264" y="3505825"/>
            <a:ext cx="8951256" cy="508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Encryption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Secures data at rest and in transit.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Example: AES for file encryption.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Identity and Access Management (IAM)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Role-based access control (RBAC) and Multi-Factor Authentication (MFA).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Secure Communication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Using TLS/SSL to protect data in transit.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1275" y="-5426920"/>
            <a:ext cx="8453215" cy="84532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518264" y="913852"/>
            <a:ext cx="8741036" cy="5246370"/>
            <a:chOff x="0" y="0"/>
            <a:chExt cx="6350000" cy="38112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3811270"/>
            </a:xfrm>
            <a:custGeom>
              <a:avLst/>
              <a:gdLst/>
              <a:ahLst/>
              <a:cxnLst/>
              <a:rect l="l" t="t" r="r" b="b"/>
              <a:pathLst>
                <a:path w="6350000" h="381127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2"/>
              <a:stretch>
                <a:fillRect l="-3351" r="-3351"/>
              </a:stretch>
            </a:blipFill>
            <a:ln w="2095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14969221" y="5396858"/>
            <a:ext cx="2290079" cy="763364"/>
          </a:xfrm>
          <a:custGeom>
            <a:avLst/>
            <a:gdLst/>
            <a:ahLst/>
            <a:cxnLst/>
            <a:rect l="l" t="t" r="r" b="b"/>
            <a:pathLst>
              <a:path w="2290079" h="763364">
                <a:moveTo>
                  <a:pt x="0" y="0"/>
                </a:moveTo>
                <a:lnTo>
                  <a:pt x="2290079" y="0"/>
                </a:lnTo>
                <a:lnTo>
                  <a:pt x="2290079" y="763364"/>
                </a:lnTo>
                <a:lnTo>
                  <a:pt x="0" y="7633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374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8756476" y="6602926"/>
            <a:ext cx="775048" cy="77504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278699" y="6602926"/>
            <a:ext cx="775048" cy="77504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756476" y="8025674"/>
            <a:ext cx="775048" cy="77504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278699" y="8025674"/>
            <a:ext cx="775048" cy="775048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00" y="1171575"/>
            <a:ext cx="6783339" cy="296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b="1" dirty="0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Encryption in Cloud Security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8968" y="4233921"/>
            <a:ext cx="8130511" cy="4568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What is encryption? Transforming data into unreadable formats to unauthorized users.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Types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Symmetric Encryption (AES).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Asymmetric Encryption (RSA).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Example: Using AES for securing a customer’s financial data stored in the cloud.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6108" y="6736499"/>
            <a:ext cx="495784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CC33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18331" y="6736499"/>
            <a:ext cx="495784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CC33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96108" y="8159247"/>
            <a:ext cx="495784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CC33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418331" y="8159247"/>
            <a:ext cx="495784" cy="44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CC33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28521" y="6787266"/>
            <a:ext cx="2778653" cy="37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at Rest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387122" y="6787266"/>
            <a:ext cx="2778653" cy="39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End to End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28521" y="8206872"/>
            <a:ext cx="2778653" cy="39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in Transit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387122" y="8206872"/>
            <a:ext cx="2778653" cy="39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Homomorphic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754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" y="0"/>
            <a:ext cx="18287543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16E5E-6470-E532-57FF-259DDD160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146" y="10068"/>
            <a:ext cx="9146264" cy="2371465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6000" dirty="0">
                <a:solidFill>
                  <a:schemeClr val="tx2"/>
                </a:solidFill>
                <a:latin typeface="Inter Heavy"/>
                <a:ea typeface="Inter Heavy"/>
              </a:rPr>
              <a:t>Private Cloud Model: AWS</a:t>
            </a:r>
            <a:r>
              <a:rPr lang="en-US" sz="6000" kern="1200" dirty="0">
                <a:solidFill>
                  <a:schemeClr val="tx2"/>
                </a:solidFill>
                <a:latin typeface="Inter Heavy"/>
                <a:ea typeface="Inter Heavy"/>
              </a:rPr>
              <a:t> s3</a:t>
            </a:r>
            <a:r>
              <a:rPr lang="en-US" sz="6000" dirty="0">
                <a:solidFill>
                  <a:schemeClr val="tx2"/>
                </a:solidFill>
                <a:latin typeface="Inter Heavy"/>
                <a:ea typeface="Inter Heavy"/>
              </a:rPr>
              <a:t> </a:t>
            </a:r>
            <a:r>
              <a:rPr lang="en-US" sz="6000" kern="1200" dirty="0">
                <a:solidFill>
                  <a:schemeClr val="tx2"/>
                </a:solidFill>
                <a:latin typeface="Inter Heavy"/>
                <a:ea typeface="Inter Heavy"/>
              </a:rPr>
              <a:t>creation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4515120" y="-1"/>
            <a:ext cx="3772422" cy="3261500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A56555C3-C61F-7908-5576-9241A4F15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" y="6485882"/>
            <a:ext cx="18280833" cy="3803176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457" y="6484318"/>
            <a:ext cx="5067641" cy="3802682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7467ED8-EB90-64F2-22E4-E0C0BF319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050" y="18421"/>
            <a:ext cx="8954938" cy="60447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3A5507-E870-8505-BA6F-63B18FCA8F86}"/>
              </a:ext>
            </a:extLst>
          </p:cNvPr>
          <p:cNvSpPr txBox="1"/>
          <p:nvPr/>
        </p:nvSpPr>
        <p:spPr>
          <a:xfrm>
            <a:off x="-1348" y="2379452"/>
            <a:ext cx="871537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500" dirty="0">
                <a:ea typeface="Calibri"/>
                <a:cs typeface="Calibri"/>
              </a:rPr>
              <a:t>Access Key</a:t>
            </a: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sz="2500" dirty="0">
                <a:ea typeface="Calibri"/>
                <a:cs typeface="Calibri"/>
              </a:rPr>
              <a:t>Secret Access Key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D5C6EC0-429A-C13E-6940-4B7410902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" y="3245690"/>
            <a:ext cx="9156041" cy="28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574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1174" y="916892"/>
            <a:ext cx="8453215" cy="84532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785959" y="916892"/>
            <a:ext cx="8453215" cy="845321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89225" y="1701761"/>
            <a:ext cx="1443312" cy="1599238"/>
          </a:xfrm>
          <a:custGeom>
            <a:avLst/>
            <a:gdLst/>
            <a:ahLst/>
            <a:cxnLst/>
            <a:rect l="l" t="t" r="r" b="b"/>
            <a:pathLst>
              <a:path w="1443312" h="1599238">
                <a:moveTo>
                  <a:pt x="0" y="0"/>
                </a:moveTo>
                <a:lnTo>
                  <a:pt x="1443312" y="0"/>
                </a:lnTo>
                <a:lnTo>
                  <a:pt x="1443312" y="1599238"/>
                </a:lnTo>
                <a:lnTo>
                  <a:pt x="0" y="1599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815988" y="7192770"/>
            <a:ext cx="1443312" cy="1599238"/>
          </a:xfrm>
          <a:custGeom>
            <a:avLst/>
            <a:gdLst/>
            <a:ahLst/>
            <a:cxnLst/>
            <a:rect l="l" t="t" r="r" b="b"/>
            <a:pathLst>
              <a:path w="1443312" h="1599238">
                <a:moveTo>
                  <a:pt x="0" y="0"/>
                </a:moveTo>
                <a:lnTo>
                  <a:pt x="1443312" y="0"/>
                </a:lnTo>
                <a:lnTo>
                  <a:pt x="1443312" y="1599237"/>
                </a:lnTo>
                <a:lnTo>
                  <a:pt x="0" y="15992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528166" y="8249945"/>
            <a:ext cx="508889" cy="1507820"/>
          </a:xfrm>
          <a:custGeom>
            <a:avLst/>
            <a:gdLst/>
            <a:ahLst/>
            <a:cxnLst/>
            <a:rect l="l" t="t" r="r" b="b"/>
            <a:pathLst>
              <a:path w="508889" h="1507820">
                <a:moveTo>
                  <a:pt x="0" y="0"/>
                </a:moveTo>
                <a:lnTo>
                  <a:pt x="508889" y="0"/>
                </a:lnTo>
                <a:lnTo>
                  <a:pt x="508889" y="1507821"/>
                </a:lnTo>
                <a:lnTo>
                  <a:pt x="0" y="1507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5497330" y="1028700"/>
            <a:ext cx="1761970" cy="447100"/>
          </a:xfrm>
          <a:custGeom>
            <a:avLst/>
            <a:gdLst/>
            <a:ahLst/>
            <a:cxnLst/>
            <a:rect l="l" t="t" r="r" b="b"/>
            <a:pathLst>
              <a:path w="1761970" h="447100">
                <a:moveTo>
                  <a:pt x="0" y="0"/>
                </a:moveTo>
                <a:lnTo>
                  <a:pt x="1761970" y="0"/>
                </a:lnTo>
                <a:lnTo>
                  <a:pt x="1761970" y="447100"/>
                </a:lnTo>
                <a:lnTo>
                  <a:pt x="0" y="447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997A15D5-DEAD-000C-AC85-C20B5B9AAE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1660" y="306994"/>
            <a:ext cx="12637699" cy="1866106"/>
          </a:xfrm>
          <a:prstGeom prst="rect">
            <a:avLst/>
          </a:prstGeom>
        </p:spPr>
      </p:pic>
      <p:pic>
        <p:nvPicPr>
          <p:cNvPr id="13" name="Picture 12" descr="A purple screen with white text&#10;&#10;Description automatically generated">
            <a:extLst>
              <a:ext uri="{FF2B5EF4-FFF2-40B4-BE49-F238E27FC236}">
                <a16:creationId xmlns:a16="http://schemas.microsoft.com/office/drawing/2014/main" id="{EB951D51-07B4-B160-2C25-DD05B9E888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3226" y="2269503"/>
            <a:ext cx="12594566" cy="2038634"/>
          </a:xfrm>
          <a:prstGeom prst="rect">
            <a:avLst/>
          </a:prstGeom>
        </p:spPr>
      </p:pic>
      <p:pic>
        <p:nvPicPr>
          <p:cNvPr id="14" name="Picture 13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BF17100F-5A2E-C471-14B7-0BA4F8DA82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3226" y="4555504"/>
            <a:ext cx="12594566" cy="2254295"/>
          </a:xfrm>
          <a:prstGeom prst="rect">
            <a:avLst/>
          </a:prstGeom>
        </p:spPr>
      </p:pic>
      <p:pic>
        <p:nvPicPr>
          <p:cNvPr id="16" name="Picture 15" descr="A computer code on a purple background&#10;&#10;Description automatically generated">
            <a:extLst>
              <a:ext uri="{FF2B5EF4-FFF2-40B4-BE49-F238E27FC236}">
                <a16:creationId xmlns:a16="http://schemas.microsoft.com/office/drawing/2014/main" id="{ACAED7FF-4E0B-5E6B-A920-8539FEBD458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23226" y="7018694"/>
            <a:ext cx="12594566" cy="30644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1174" y="916892"/>
            <a:ext cx="8453215" cy="84532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785959" y="916892"/>
            <a:ext cx="8453215" cy="845321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89225" y="1701761"/>
            <a:ext cx="1443312" cy="1599238"/>
          </a:xfrm>
          <a:custGeom>
            <a:avLst/>
            <a:gdLst/>
            <a:ahLst/>
            <a:cxnLst/>
            <a:rect l="l" t="t" r="r" b="b"/>
            <a:pathLst>
              <a:path w="1443312" h="1599238">
                <a:moveTo>
                  <a:pt x="0" y="0"/>
                </a:moveTo>
                <a:lnTo>
                  <a:pt x="1443312" y="0"/>
                </a:lnTo>
                <a:lnTo>
                  <a:pt x="1443312" y="1599238"/>
                </a:lnTo>
                <a:lnTo>
                  <a:pt x="0" y="1599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815988" y="7192770"/>
            <a:ext cx="1443312" cy="1599238"/>
          </a:xfrm>
          <a:custGeom>
            <a:avLst/>
            <a:gdLst/>
            <a:ahLst/>
            <a:cxnLst/>
            <a:rect l="l" t="t" r="r" b="b"/>
            <a:pathLst>
              <a:path w="1443312" h="1599238">
                <a:moveTo>
                  <a:pt x="0" y="0"/>
                </a:moveTo>
                <a:lnTo>
                  <a:pt x="1443312" y="0"/>
                </a:lnTo>
                <a:lnTo>
                  <a:pt x="1443312" y="1599237"/>
                </a:lnTo>
                <a:lnTo>
                  <a:pt x="0" y="15992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528166" y="8249945"/>
            <a:ext cx="508889" cy="1507820"/>
          </a:xfrm>
          <a:custGeom>
            <a:avLst/>
            <a:gdLst/>
            <a:ahLst/>
            <a:cxnLst/>
            <a:rect l="l" t="t" r="r" b="b"/>
            <a:pathLst>
              <a:path w="508889" h="1507820">
                <a:moveTo>
                  <a:pt x="0" y="0"/>
                </a:moveTo>
                <a:lnTo>
                  <a:pt x="508889" y="0"/>
                </a:lnTo>
                <a:lnTo>
                  <a:pt x="508889" y="1507821"/>
                </a:lnTo>
                <a:lnTo>
                  <a:pt x="0" y="1507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5497330" y="1028700"/>
            <a:ext cx="1761970" cy="447100"/>
          </a:xfrm>
          <a:custGeom>
            <a:avLst/>
            <a:gdLst/>
            <a:ahLst/>
            <a:cxnLst/>
            <a:rect l="l" t="t" r="r" b="b"/>
            <a:pathLst>
              <a:path w="1761970" h="447100">
                <a:moveTo>
                  <a:pt x="0" y="0"/>
                </a:moveTo>
                <a:lnTo>
                  <a:pt x="1761970" y="0"/>
                </a:lnTo>
                <a:lnTo>
                  <a:pt x="1761970" y="447100"/>
                </a:lnTo>
                <a:lnTo>
                  <a:pt x="0" y="447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4647016" y="4355472"/>
            <a:ext cx="8993967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00"/>
              </a:lnSpc>
            </a:pPr>
            <a:r>
              <a:rPr lang="en-US" sz="9200" b="1" dirty="0">
                <a:solidFill>
                  <a:srgbClr val="6644A8"/>
                </a:solidFill>
                <a:latin typeface="Inter Heavy"/>
                <a:ea typeface="Inter Heavy"/>
                <a:cs typeface="Inter Heavy"/>
              </a:rPr>
              <a:t>Code Demo</a:t>
            </a:r>
          </a:p>
        </p:txBody>
      </p:sp>
    </p:spTree>
    <p:extLst>
      <p:ext uri="{BB962C8B-B14F-4D97-AF65-F5344CB8AC3E}">
        <p14:creationId xmlns:p14="http://schemas.microsoft.com/office/powerpoint/2010/main" val="948463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3327" y="3602864"/>
            <a:ext cx="8453215" cy="84532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5841370" cy="8229600"/>
            <a:chOff x="0" y="0"/>
            <a:chExt cx="450723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05960" cy="6350000"/>
            </a:xfrm>
            <a:custGeom>
              <a:avLst/>
              <a:gdLst/>
              <a:ahLst/>
              <a:cxnLst/>
              <a:rect l="l" t="t" r="r" b="b"/>
              <a:pathLst>
                <a:path w="4505960" h="6350000">
                  <a:moveTo>
                    <a:pt x="0" y="561340"/>
                  </a:moveTo>
                  <a:lnTo>
                    <a:pt x="0" y="3961130"/>
                  </a:lnTo>
                  <a:cubicBezTo>
                    <a:pt x="0" y="4272280"/>
                    <a:pt x="252730" y="4523740"/>
                    <a:pt x="562610" y="4522470"/>
                  </a:cubicBezTo>
                  <a:cubicBezTo>
                    <a:pt x="873760" y="4521200"/>
                    <a:pt x="1126490" y="4773930"/>
                    <a:pt x="1125220" y="5085080"/>
                  </a:cubicBezTo>
                  <a:lnTo>
                    <a:pt x="1123950" y="5787390"/>
                  </a:lnTo>
                  <a:cubicBezTo>
                    <a:pt x="1123950" y="6098540"/>
                    <a:pt x="1375410" y="6350000"/>
                    <a:pt x="1685290" y="6350000"/>
                  </a:cubicBezTo>
                  <a:lnTo>
                    <a:pt x="3944620" y="6350000"/>
                  </a:lnTo>
                  <a:cubicBezTo>
                    <a:pt x="4254500" y="6350000"/>
                    <a:pt x="4505960" y="6098540"/>
                    <a:pt x="4505960" y="5788660"/>
                  </a:cubicBezTo>
                  <a:lnTo>
                    <a:pt x="4505960" y="2679700"/>
                  </a:lnTo>
                  <a:cubicBezTo>
                    <a:pt x="4505960" y="2494280"/>
                    <a:pt x="4414520" y="2321560"/>
                    <a:pt x="4262120" y="2217420"/>
                  </a:cubicBezTo>
                  <a:lnTo>
                    <a:pt x="1184910" y="99060"/>
                  </a:lnTo>
                  <a:cubicBezTo>
                    <a:pt x="1090930" y="34290"/>
                    <a:pt x="980440" y="0"/>
                    <a:pt x="866140" y="0"/>
                  </a:cubicBezTo>
                  <a:lnTo>
                    <a:pt x="561340" y="0"/>
                  </a:lnTo>
                  <a:cubicBezTo>
                    <a:pt x="251460" y="0"/>
                    <a:pt x="0" y="251460"/>
                    <a:pt x="0" y="561340"/>
                  </a:cubicBezTo>
                  <a:close/>
                </a:path>
              </a:pathLst>
            </a:custGeom>
            <a:blipFill>
              <a:blip r:embed="rId2"/>
              <a:stretch>
                <a:fillRect l="-75266" r="-75266"/>
              </a:stretch>
            </a:blipFill>
            <a:ln w="2095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339815" y="1182189"/>
            <a:ext cx="8383118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b="1" dirty="0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Challenges and Limitations</a:t>
            </a:r>
            <a:endParaRPr lang="en-US" sz="7700" b="1">
              <a:solidFill>
                <a:srgbClr val="6644A8"/>
              </a:solidFill>
              <a:latin typeface="Inter Heavy"/>
              <a:ea typeface="Inter Heavy"/>
              <a:cs typeface="Inter Heavy"/>
              <a:sym typeface="Inter Heavy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5426758" y="1028700"/>
            <a:ext cx="1443312" cy="1599238"/>
          </a:xfrm>
          <a:custGeom>
            <a:avLst/>
            <a:gdLst/>
            <a:ahLst/>
            <a:cxnLst/>
            <a:rect l="l" t="t" r="r" b="b"/>
            <a:pathLst>
              <a:path w="1443312" h="1599238">
                <a:moveTo>
                  <a:pt x="0" y="0"/>
                </a:moveTo>
                <a:lnTo>
                  <a:pt x="1443312" y="0"/>
                </a:lnTo>
                <a:lnTo>
                  <a:pt x="1443312" y="1599238"/>
                </a:lnTo>
                <a:lnTo>
                  <a:pt x="0" y="1599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497330" y="1028700"/>
            <a:ext cx="1761970" cy="447100"/>
          </a:xfrm>
          <a:custGeom>
            <a:avLst/>
            <a:gdLst/>
            <a:ahLst/>
            <a:cxnLst/>
            <a:rect l="l" t="t" r="r" b="b"/>
            <a:pathLst>
              <a:path w="1761970" h="447100">
                <a:moveTo>
                  <a:pt x="0" y="0"/>
                </a:moveTo>
                <a:lnTo>
                  <a:pt x="1761970" y="0"/>
                </a:lnTo>
                <a:lnTo>
                  <a:pt x="1761970" y="447100"/>
                </a:lnTo>
                <a:lnTo>
                  <a:pt x="0" y="447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8601465" y="7595158"/>
            <a:ext cx="1085067" cy="108506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918468" y="7599408"/>
            <a:ext cx="1085067" cy="108506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35471" y="7598077"/>
            <a:ext cx="1085067" cy="108506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44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8786708" y="7885706"/>
            <a:ext cx="613175" cy="578684"/>
          </a:xfrm>
          <a:custGeom>
            <a:avLst/>
            <a:gdLst/>
            <a:ahLst/>
            <a:cxnLst/>
            <a:rect l="l" t="t" r="r" b="b"/>
            <a:pathLst>
              <a:path w="613175" h="578684">
                <a:moveTo>
                  <a:pt x="0" y="0"/>
                </a:moveTo>
                <a:lnTo>
                  <a:pt x="613175" y="0"/>
                </a:lnTo>
                <a:lnTo>
                  <a:pt x="613175" y="578684"/>
                </a:lnTo>
                <a:lnTo>
                  <a:pt x="0" y="5786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2118716" y="7788865"/>
            <a:ext cx="684571" cy="697652"/>
          </a:xfrm>
          <a:custGeom>
            <a:avLst/>
            <a:gdLst/>
            <a:ahLst/>
            <a:cxnLst/>
            <a:rect l="l" t="t" r="r" b="b"/>
            <a:pathLst>
              <a:path w="684571" h="697652">
                <a:moveTo>
                  <a:pt x="0" y="0"/>
                </a:moveTo>
                <a:lnTo>
                  <a:pt x="684571" y="0"/>
                </a:lnTo>
                <a:lnTo>
                  <a:pt x="684571" y="697652"/>
                </a:lnTo>
                <a:lnTo>
                  <a:pt x="0" y="6976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5414045" y="7760130"/>
            <a:ext cx="727918" cy="704260"/>
          </a:xfrm>
          <a:custGeom>
            <a:avLst/>
            <a:gdLst/>
            <a:ahLst/>
            <a:cxnLst/>
            <a:rect l="l" t="t" r="r" b="b"/>
            <a:pathLst>
              <a:path w="727918" h="704260">
                <a:moveTo>
                  <a:pt x="0" y="0"/>
                </a:moveTo>
                <a:lnTo>
                  <a:pt x="727918" y="0"/>
                </a:lnTo>
                <a:lnTo>
                  <a:pt x="727918" y="704260"/>
                </a:lnTo>
                <a:lnTo>
                  <a:pt x="0" y="7042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7754673" y="9063070"/>
            <a:ext cx="2778653" cy="39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ENCRYPTION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388679" y="9063070"/>
            <a:ext cx="2778653" cy="39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COMPLIANCE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071676" y="9063070"/>
            <a:ext cx="2778653" cy="761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IDENTITY MANAGEMENT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A8FD2D-534C-1F96-B6AC-9361C80333E3}"/>
              </a:ext>
            </a:extLst>
          </p:cNvPr>
          <p:cNvSpPr txBox="1"/>
          <p:nvPr/>
        </p:nvSpPr>
        <p:spPr>
          <a:xfrm>
            <a:off x="8087462" y="3488117"/>
            <a:ext cx="8747077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Encryption Overhead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Slower data upload/download speeds.</a:t>
            </a:r>
            <a:endParaRPr kumimoji="0" lang="en-US" altLang="en-US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Insider Threats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Encryption doesn’t prevent misuse of authorized access.</a:t>
            </a:r>
            <a:endParaRPr kumimoji="0" lang="en-US" altLang="en-US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Cost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Advanced security measures can increase operational costs.</a:t>
            </a:r>
            <a:endParaRPr kumimoji="0" lang="en-US" altLang="en-US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Evolving Threats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Cybercriminals continually find new vulnerabilities. </a:t>
            </a:r>
            <a:endParaRPr kumimoji="0" lang="en-US" altLang="en-US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00" b="1" dirty="0">
                <a:latin typeface="Poppins" pitchFamily="2" charset="77"/>
                <a:cs typeface="Poppins" pitchFamily="2" charset="77"/>
              </a:rPr>
              <a:t>Data Ownership</a:t>
            </a:r>
            <a:r>
              <a:rPr lang="en-US" sz="2500" dirty="0">
                <a:latin typeface="Poppins" pitchFamily="2" charset="77"/>
                <a:cs typeface="Poppins" pitchFamily="2" charset="77"/>
              </a:rPr>
              <a:t>: Who is responsible for security? Provider or customer?</a:t>
            </a:r>
            <a:endParaRPr lang="en-US" sz="2500">
              <a:latin typeface="Poppins" pitchFamily="2" charset="77"/>
              <a:cs typeface="Poppins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0" y="5859577"/>
            <a:ext cx="16230600" cy="3397237"/>
            <a:chOff x="0" y="-38100"/>
            <a:chExt cx="4274726" cy="894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856645"/>
            </a:xfrm>
            <a:custGeom>
              <a:avLst/>
              <a:gdLst/>
              <a:ahLst/>
              <a:cxnLst/>
              <a:rect l="l" t="t" r="r" b="b"/>
              <a:pathLst>
                <a:path w="4274726" h="856645">
                  <a:moveTo>
                    <a:pt x="47700" y="0"/>
                  </a:moveTo>
                  <a:lnTo>
                    <a:pt x="4227026" y="0"/>
                  </a:lnTo>
                  <a:cubicBezTo>
                    <a:pt x="4239677" y="0"/>
                    <a:pt x="4251809" y="5025"/>
                    <a:pt x="4260755" y="13971"/>
                  </a:cubicBezTo>
                  <a:cubicBezTo>
                    <a:pt x="4269700" y="22916"/>
                    <a:pt x="4274726" y="35049"/>
                    <a:pt x="4274726" y="47700"/>
                  </a:cubicBezTo>
                  <a:lnTo>
                    <a:pt x="4274726" y="808946"/>
                  </a:lnTo>
                  <a:cubicBezTo>
                    <a:pt x="4274726" y="821597"/>
                    <a:pt x="4269700" y="833729"/>
                    <a:pt x="4260755" y="842675"/>
                  </a:cubicBezTo>
                  <a:cubicBezTo>
                    <a:pt x="4251809" y="851620"/>
                    <a:pt x="4239677" y="856645"/>
                    <a:pt x="4227026" y="856645"/>
                  </a:cubicBezTo>
                  <a:lnTo>
                    <a:pt x="47700" y="856645"/>
                  </a:lnTo>
                  <a:cubicBezTo>
                    <a:pt x="35049" y="856645"/>
                    <a:pt x="22916" y="851620"/>
                    <a:pt x="13971" y="842675"/>
                  </a:cubicBezTo>
                  <a:cubicBezTo>
                    <a:pt x="5025" y="833729"/>
                    <a:pt x="0" y="821597"/>
                    <a:pt x="0" y="808946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F7F5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894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917129" y="916892"/>
            <a:ext cx="8453215" cy="845321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981126"/>
            <a:ext cx="6660596" cy="666059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8888" r="-38888"/>
              </a:stretch>
            </a:blipFill>
            <a:ln w="2095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 rot="-5400000">
            <a:off x="6168022" y="838930"/>
            <a:ext cx="1443312" cy="1599238"/>
          </a:xfrm>
          <a:custGeom>
            <a:avLst/>
            <a:gdLst/>
            <a:ahLst/>
            <a:cxnLst/>
            <a:rect l="l" t="t" r="r" b="b"/>
            <a:pathLst>
              <a:path w="1443312" h="1599238">
                <a:moveTo>
                  <a:pt x="0" y="0"/>
                </a:moveTo>
                <a:lnTo>
                  <a:pt x="1443312" y="0"/>
                </a:lnTo>
                <a:lnTo>
                  <a:pt x="1443312" y="1599237"/>
                </a:lnTo>
                <a:lnTo>
                  <a:pt x="0" y="15992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10800000">
            <a:off x="16750411" y="1075945"/>
            <a:ext cx="508889" cy="1507820"/>
          </a:xfrm>
          <a:custGeom>
            <a:avLst/>
            <a:gdLst/>
            <a:ahLst/>
            <a:cxnLst/>
            <a:rect l="l" t="t" r="r" b="b"/>
            <a:pathLst>
              <a:path w="508889" h="1507820">
                <a:moveTo>
                  <a:pt x="0" y="0"/>
                </a:moveTo>
                <a:lnTo>
                  <a:pt x="508889" y="0"/>
                </a:lnTo>
                <a:lnTo>
                  <a:pt x="508889" y="1507821"/>
                </a:lnTo>
                <a:lnTo>
                  <a:pt x="0" y="1507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7896937" y="1171575"/>
            <a:ext cx="9362363" cy="197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b="1" dirty="0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Future Trends in Cloud Security</a:t>
            </a:r>
            <a:endParaRPr lang="en-US" sz="7700" b="1">
              <a:solidFill>
                <a:srgbClr val="6644A8"/>
              </a:solidFill>
              <a:latin typeface="Inter Heavy"/>
              <a:ea typeface="Inter Heavy"/>
              <a:cs typeface="Inter Heavy"/>
              <a:sym typeface="Inter Heavy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43D143-F196-058D-B2F3-B95DCD3D3558}"/>
              </a:ext>
            </a:extLst>
          </p:cNvPr>
          <p:cNvSpPr txBox="1"/>
          <p:nvPr/>
        </p:nvSpPr>
        <p:spPr>
          <a:xfrm>
            <a:off x="7896937" y="3365591"/>
            <a:ext cx="9095663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AI and Machine Learning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Predict and mitigate threats in real-time. </a:t>
            </a:r>
            <a:r>
              <a:rPr lang="en-US" sz="2500" dirty="0">
                <a:latin typeface="Poppins" panose="00000500000000000000" pitchFamily="2" charset="0"/>
                <a:cs typeface="Poppins" panose="00000500000000000000" pitchFamily="2" charset="0"/>
              </a:rPr>
              <a:t>AI and machine learning are increasingly used to monitor and detect abnormal behaviors in cloud environments.</a:t>
            </a:r>
            <a:endParaRPr kumimoji="0" lang="en-US" altLang="en-US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Quantum-Safe Cryptography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Protecting against quantum computing threats. </a:t>
            </a:r>
            <a:r>
              <a:rPr lang="en-US" sz="2500" dirty="0">
                <a:latin typeface="Poppins" panose="00000500000000000000" pitchFamily="2" charset="0"/>
                <a:cs typeface="Poppins" panose="00000500000000000000" pitchFamily="2" charset="0"/>
              </a:rPr>
              <a:t>Developing encryption algorithms resistant to quantum computing attacks.</a:t>
            </a:r>
            <a:endParaRPr kumimoji="0" lang="en-US" altLang="en-US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Zero-Trust Architecture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500" dirty="0">
                <a:latin typeface="Poppins" panose="00000500000000000000" pitchFamily="2" charset="0"/>
                <a:cs typeface="Poppins" panose="00000500000000000000" pitchFamily="2" charset="0"/>
              </a:rPr>
              <a:t>Moving beyond perimeter-based security to a “never trust, always verify” model.</a:t>
            </a:r>
            <a:endParaRPr lang="en-US" sz="25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Edge Computing Security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Securing data processed closer to users. </a:t>
            </a:r>
            <a:endParaRPr kumimoji="0" lang="en-US" altLang="en-US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662545" y="-1562100"/>
            <a:ext cx="8453215" cy="84532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537644" y="3339099"/>
            <a:ext cx="8453215" cy="845321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83037" y="24810"/>
            <a:ext cx="1443312" cy="1599238"/>
          </a:xfrm>
          <a:custGeom>
            <a:avLst/>
            <a:gdLst/>
            <a:ahLst/>
            <a:cxnLst/>
            <a:rect l="l" t="t" r="r" b="b"/>
            <a:pathLst>
              <a:path w="1443312" h="1599238">
                <a:moveTo>
                  <a:pt x="0" y="0"/>
                </a:moveTo>
                <a:lnTo>
                  <a:pt x="1443312" y="0"/>
                </a:lnTo>
                <a:lnTo>
                  <a:pt x="1443312" y="1599238"/>
                </a:lnTo>
                <a:lnTo>
                  <a:pt x="0" y="1599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6311985" y="8458681"/>
            <a:ext cx="1443312" cy="1599238"/>
          </a:xfrm>
          <a:custGeom>
            <a:avLst/>
            <a:gdLst/>
            <a:ahLst/>
            <a:cxnLst/>
            <a:rect l="l" t="t" r="r" b="b"/>
            <a:pathLst>
              <a:path w="1443312" h="1599238">
                <a:moveTo>
                  <a:pt x="0" y="0"/>
                </a:moveTo>
                <a:lnTo>
                  <a:pt x="1443312" y="0"/>
                </a:lnTo>
                <a:lnTo>
                  <a:pt x="1443312" y="1599237"/>
                </a:lnTo>
                <a:lnTo>
                  <a:pt x="0" y="15992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9373785" y="8711833"/>
            <a:ext cx="508889" cy="1507820"/>
          </a:xfrm>
          <a:custGeom>
            <a:avLst/>
            <a:gdLst/>
            <a:ahLst/>
            <a:cxnLst/>
            <a:rect l="l" t="t" r="r" b="b"/>
            <a:pathLst>
              <a:path w="508889" h="1507820">
                <a:moveTo>
                  <a:pt x="0" y="0"/>
                </a:moveTo>
                <a:lnTo>
                  <a:pt x="508889" y="0"/>
                </a:lnTo>
                <a:lnTo>
                  <a:pt x="508889" y="1507821"/>
                </a:lnTo>
                <a:lnTo>
                  <a:pt x="0" y="1507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>
          <a:xfrm>
            <a:off x="15497330" y="1028700"/>
            <a:ext cx="1761970" cy="447100"/>
          </a:xfrm>
          <a:custGeom>
            <a:avLst/>
            <a:gdLst/>
            <a:ahLst/>
            <a:cxnLst/>
            <a:rect l="l" t="t" r="r" b="b"/>
            <a:pathLst>
              <a:path w="1761970" h="447100">
                <a:moveTo>
                  <a:pt x="0" y="0"/>
                </a:moveTo>
                <a:lnTo>
                  <a:pt x="1761970" y="0"/>
                </a:lnTo>
                <a:lnTo>
                  <a:pt x="1761970" y="447100"/>
                </a:lnTo>
                <a:lnTo>
                  <a:pt x="0" y="447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947010" y="438795"/>
            <a:ext cx="12393980" cy="1053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00"/>
              </a:lnSpc>
            </a:pPr>
            <a:r>
              <a:rPr lang="en-US" sz="5500" b="1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Everyday Cloud Examples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6CC99E-FE74-4B9C-0321-BC716C8AC8B2}"/>
              </a:ext>
            </a:extLst>
          </p:cNvPr>
          <p:cNvSpPr txBox="1"/>
          <p:nvPr/>
        </p:nvSpPr>
        <p:spPr>
          <a:xfrm>
            <a:off x="0" y="2286100"/>
            <a:ext cx="2508572" cy="7855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Poppins" pitchFamily="2" charset="77"/>
                <a:cs typeface="Poppins" pitchFamily="2" charset="77"/>
              </a:rPr>
              <a:t>File Storage and Sharing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Google Drive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Offers free and paid plans for storing and sharing files.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Dropbox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Popular for sharing large files easily.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Microsoft OneDrive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Built into Windows and Office 365, for seamless productivity.</a:t>
            </a:r>
          </a:p>
          <a:p>
            <a:pPr>
              <a:lnSpc>
                <a:spcPct val="150000"/>
              </a:lnSpc>
            </a:pPr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A1D912-34F5-AF39-8BED-7549166BA8A4}"/>
              </a:ext>
            </a:extLst>
          </p:cNvPr>
          <p:cNvSpPr txBox="1"/>
          <p:nvPr/>
        </p:nvSpPr>
        <p:spPr>
          <a:xfrm>
            <a:off x="2664912" y="2280657"/>
            <a:ext cx="2590800" cy="8275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Poppins" pitchFamily="2" charset="77"/>
                <a:cs typeface="Poppins" pitchFamily="2" charset="77"/>
              </a:rPr>
              <a:t>Media Streaming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Netflix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Uses the cloud to store and deliver movies and TV shows.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Spotify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Streams millions of songs, podcasts, and playlists directly from the cloud.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YouTube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Relies on Google Cloud to host and stream videos globally.</a:t>
            </a:r>
          </a:p>
          <a:p>
            <a:pPr>
              <a:lnSpc>
                <a:spcPct val="150000"/>
              </a:lnSpc>
            </a:pPr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9A1CEB-6854-D2B9-4661-3E3B5826F945}"/>
              </a:ext>
            </a:extLst>
          </p:cNvPr>
          <p:cNvSpPr txBox="1"/>
          <p:nvPr/>
        </p:nvSpPr>
        <p:spPr>
          <a:xfrm>
            <a:off x="5252394" y="2286100"/>
            <a:ext cx="2930468" cy="7855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Poppins" pitchFamily="2" charset="77"/>
                <a:cs typeface="Poppins" pitchFamily="2" charset="77"/>
              </a:rPr>
              <a:t>Social Media Platforms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Facebook </a:t>
            </a:r>
            <a:endParaRPr lang="en-US" b="1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Stores user data, posts, and photos on cloud infrastructure.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Instagram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Cloud services power image hosting and live streaming.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TikTok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Relies on cloud services for video storage and recommendation algorithms.</a:t>
            </a:r>
          </a:p>
          <a:p>
            <a:pPr>
              <a:lnSpc>
                <a:spcPct val="150000"/>
              </a:lnSpc>
            </a:pPr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349DA9-DF88-7192-D48F-BE5468F79E32}"/>
              </a:ext>
            </a:extLst>
          </p:cNvPr>
          <p:cNvSpPr txBox="1"/>
          <p:nvPr/>
        </p:nvSpPr>
        <p:spPr>
          <a:xfrm>
            <a:off x="8108238" y="2286100"/>
            <a:ext cx="2930468" cy="6451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Poppins" pitchFamily="2" charset="77"/>
                <a:cs typeface="Poppins" pitchFamily="2" charset="77"/>
              </a:rPr>
              <a:t>Email Services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Gmail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Google’s email service operates entirely in the cloud.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Outlook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Microsoft’s </a:t>
            </a:r>
            <a:r>
              <a:rPr lang="en-US">
                <a:latin typeface="Poppins" pitchFamily="2" charset="77"/>
                <a:cs typeface="Poppins" pitchFamily="2" charset="77"/>
              </a:rPr>
              <a:t>cloud based</a:t>
            </a:r>
            <a:r>
              <a:rPr lang="en-US" dirty="0">
                <a:latin typeface="Poppins" pitchFamily="2" charset="77"/>
                <a:cs typeface="Poppins" pitchFamily="2" charset="77"/>
              </a:rPr>
              <a:t> email platform integrates with OneDrive.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Yahoo Mail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A longstanding cloud-based email service.</a:t>
            </a:r>
          </a:p>
          <a:p>
            <a:pPr>
              <a:lnSpc>
                <a:spcPct val="150000"/>
              </a:lnSpc>
            </a:pPr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0122C3-6051-424C-D9C6-3D5E092A5F50}"/>
              </a:ext>
            </a:extLst>
          </p:cNvPr>
          <p:cNvSpPr txBox="1"/>
          <p:nvPr/>
        </p:nvSpPr>
        <p:spPr>
          <a:xfrm>
            <a:off x="11073596" y="2275314"/>
            <a:ext cx="3328203" cy="6193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Poppins" pitchFamily="2" charset="77"/>
                <a:cs typeface="Poppins" pitchFamily="2" charset="77"/>
              </a:rPr>
              <a:t>Cloud Storage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Apple iCloud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Automatically backs up photos, videos, and device data.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Google Photos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Provides cloud-based photo storage and organization.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Amazon Photos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Offers secure storage for personal photos and videos.</a:t>
            </a:r>
          </a:p>
          <a:p>
            <a:pPr>
              <a:lnSpc>
                <a:spcPct val="150000"/>
              </a:lnSpc>
            </a:pPr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92D946-D1E4-4620-1346-3E380C195AA6}"/>
              </a:ext>
            </a:extLst>
          </p:cNvPr>
          <p:cNvSpPr txBox="1"/>
          <p:nvPr/>
        </p:nvSpPr>
        <p:spPr>
          <a:xfrm>
            <a:off x="14483196" y="2275314"/>
            <a:ext cx="3657577" cy="3954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Poppins" pitchFamily="2" charset="77"/>
                <a:cs typeface="Poppins" pitchFamily="2" charset="77"/>
              </a:rPr>
              <a:t>Gaming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Xbox Cloud Gaming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Allows players stream games without downloading.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NVIDIA GeForce Now</a:t>
            </a:r>
            <a:endParaRPr lang="en-US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Poppins" pitchFamily="2" charset="77"/>
                <a:cs typeface="Poppins" pitchFamily="2" charset="77"/>
              </a:rPr>
              <a:t>Enables high-performance gaming using cloud hardware.</a:t>
            </a:r>
          </a:p>
        </p:txBody>
      </p:sp>
    </p:spTree>
    <p:extLst>
      <p:ext uri="{BB962C8B-B14F-4D97-AF65-F5344CB8AC3E}">
        <p14:creationId xmlns:p14="http://schemas.microsoft.com/office/powerpoint/2010/main" val="1106198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14625" y="-789140"/>
            <a:ext cx="3015641" cy="11865279"/>
            <a:chOff x="0" y="0"/>
            <a:chExt cx="794243" cy="31250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94243" cy="3125012"/>
            </a:xfrm>
            <a:custGeom>
              <a:avLst/>
              <a:gdLst/>
              <a:ahLst/>
              <a:cxnLst/>
              <a:rect l="l" t="t" r="r" b="b"/>
              <a:pathLst>
                <a:path w="794243" h="3125012">
                  <a:moveTo>
                    <a:pt x="0" y="0"/>
                  </a:moveTo>
                  <a:lnTo>
                    <a:pt x="794243" y="0"/>
                  </a:lnTo>
                  <a:lnTo>
                    <a:pt x="794243" y="3125012"/>
                  </a:lnTo>
                  <a:lnTo>
                    <a:pt x="0" y="3125012"/>
                  </a:lnTo>
                  <a:close/>
                </a:path>
              </a:pathLst>
            </a:custGeom>
            <a:solidFill>
              <a:srgbClr val="F7F5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94243" cy="3163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9438" y="2160492"/>
            <a:ext cx="5966016" cy="596601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497330" y="8811200"/>
            <a:ext cx="1761970" cy="447100"/>
          </a:xfrm>
          <a:custGeom>
            <a:avLst/>
            <a:gdLst/>
            <a:ahLst/>
            <a:cxnLst/>
            <a:rect l="l" t="t" r="r" b="b"/>
            <a:pathLst>
              <a:path w="1761970" h="447100">
                <a:moveTo>
                  <a:pt x="0" y="0"/>
                </a:moveTo>
                <a:lnTo>
                  <a:pt x="1761970" y="0"/>
                </a:lnTo>
                <a:lnTo>
                  <a:pt x="1761970" y="447100"/>
                </a:lnTo>
                <a:lnTo>
                  <a:pt x="0" y="447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250945" y="417376"/>
            <a:ext cx="508889" cy="1507820"/>
          </a:xfrm>
          <a:custGeom>
            <a:avLst/>
            <a:gdLst/>
            <a:ahLst/>
            <a:cxnLst/>
            <a:rect l="l" t="t" r="r" b="b"/>
            <a:pathLst>
              <a:path w="508889" h="1507820">
                <a:moveTo>
                  <a:pt x="0" y="0"/>
                </a:moveTo>
                <a:lnTo>
                  <a:pt x="508889" y="0"/>
                </a:lnTo>
                <a:lnTo>
                  <a:pt x="508889" y="1507820"/>
                </a:lnTo>
                <a:lnTo>
                  <a:pt x="0" y="1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992969" y="1973217"/>
            <a:ext cx="1443312" cy="1599238"/>
          </a:xfrm>
          <a:custGeom>
            <a:avLst/>
            <a:gdLst/>
            <a:ahLst/>
            <a:cxnLst/>
            <a:rect l="l" t="t" r="r" b="b"/>
            <a:pathLst>
              <a:path w="1443312" h="1599238">
                <a:moveTo>
                  <a:pt x="0" y="0"/>
                </a:moveTo>
                <a:lnTo>
                  <a:pt x="1443312" y="0"/>
                </a:lnTo>
                <a:lnTo>
                  <a:pt x="1443312" y="1599237"/>
                </a:lnTo>
                <a:lnTo>
                  <a:pt x="0" y="15992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239438" y="4217068"/>
            <a:ext cx="5966016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 b="1" dirty="0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Key</a:t>
            </a:r>
          </a:p>
          <a:p>
            <a:pPr algn="ctr">
              <a:lnSpc>
                <a:spcPts val="7700"/>
              </a:lnSpc>
            </a:pPr>
            <a:r>
              <a:rPr lang="en-US" sz="7700" b="1" dirty="0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Takeaways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4956D8-7CD2-8C36-7AA3-C10794337C4C}"/>
              </a:ext>
            </a:extLst>
          </p:cNvPr>
          <p:cNvSpPr txBox="1"/>
          <p:nvPr/>
        </p:nvSpPr>
        <p:spPr>
          <a:xfrm>
            <a:off x="8667194" y="2981368"/>
            <a:ext cx="8055279" cy="43242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Poppins" pitchFamily="2" charset="77"/>
                <a:cs typeface="Poppins" pitchFamily="2" charset="77"/>
              </a:rPr>
              <a:t>Cloud computing offers flexibility but introduces unique security challenges.</a:t>
            </a:r>
          </a:p>
          <a:p>
            <a:endParaRPr lang="en-US" sz="2500" dirty="0">
              <a:latin typeface="Poppins" pitchFamily="2" charset="77"/>
              <a:cs typeface="Poppins" pitchFamily="2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Poppins"/>
                <a:cs typeface="Poppins"/>
              </a:rPr>
              <a:t>Encryption, and secure protocols are critical for mitigating risks.</a:t>
            </a:r>
          </a:p>
          <a:p>
            <a:endParaRPr lang="en-US" sz="2500" dirty="0">
              <a:latin typeface="Poppins" pitchFamily="2" charset="77"/>
              <a:cs typeface="Poppins" pitchFamily="2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Poppins" pitchFamily="2" charset="77"/>
                <a:cs typeface="Poppins" pitchFamily="2" charset="77"/>
              </a:rPr>
              <a:t>The future of cloud security lies in AI, Zero Trust, and quantum safe solutions.</a:t>
            </a:r>
          </a:p>
          <a:p>
            <a:endParaRPr lang="en-US" sz="2500" dirty="0">
              <a:latin typeface="Poppins" pitchFamily="2" charset="77"/>
              <a:cs typeface="Poppins" pitchFamily="2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Poppins" pitchFamily="2" charset="77"/>
                <a:cs typeface="Poppins" pitchFamily="2" charset="77"/>
              </a:rPr>
              <a:t>Vigilance and continuous improvement are essential to staying ahead of threats.</a:t>
            </a:r>
          </a:p>
        </p:txBody>
      </p:sp>
    </p:spTree>
    <p:extLst>
      <p:ext uri="{BB962C8B-B14F-4D97-AF65-F5344CB8AC3E}">
        <p14:creationId xmlns:p14="http://schemas.microsoft.com/office/powerpoint/2010/main" val="3271602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20918" y="1525253"/>
            <a:ext cx="19329836" cy="3618247"/>
            <a:chOff x="0" y="0"/>
            <a:chExt cx="5090986" cy="9529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90986" cy="952954"/>
            </a:xfrm>
            <a:custGeom>
              <a:avLst/>
              <a:gdLst/>
              <a:ahLst/>
              <a:cxnLst/>
              <a:rect l="l" t="t" r="r" b="b"/>
              <a:pathLst>
                <a:path w="5090986" h="952954">
                  <a:moveTo>
                    <a:pt x="0" y="0"/>
                  </a:moveTo>
                  <a:lnTo>
                    <a:pt x="5090986" y="0"/>
                  </a:lnTo>
                  <a:lnTo>
                    <a:pt x="5090986" y="952954"/>
                  </a:lnTo>
                  <a:lnTo>
                    <a:pt x="0" y="952954"/>
                  </a:lnTo>
                  <a:close/>
                </a:path>
              </a:pathLst>
            </a:custGeom>
            <a:solidFill>
              <a:srgbClr val="F7F5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90986" cy="991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533579" y="732930"/>
            <a:ext cx="6127478" cy="612747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94101" y="732930"/>
            <a:ext cx="6127478" cy="612747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963442" y="732930"/>
            <a:ext cx="6361116" cy="5780664"/>
          </a:xfrm>
          <a:custGeom>
            <a:avLst/>
            <a:gdLst/>
            <a:ahLst/>
            <a:cxnLst/>
            <a:rect l="l" t="t" r="r" b="b"/>
            <a:pathLst>
              <a:path w="6361116" h="5780664">
                <a:moveTo>
                  <a:pt x="0" y="0"/>
                </a:moveTo>
                <a:lnTo>
                  <a:pt x="6361116" y="0"/>
                </a:lnTo>
                <a:lnTo>
                  <a:pt x="6361116" y="5780664"/>
                </a:lnTo>
                <a:lnTo>
                  <a:pt x="0" y="5780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073966" y="7245594"/>
            <a:ext cx="12140068" cy="1214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0"/>
              </a:lnSpc>
            </a:pPr>
            <a:r>
              <a:rPr lang="en-US" sz="9200" b="1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THANK YOU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497330" y="8660342"/>
            <a:ext cx="1761970" cy="447100"/>
          </a:xfrm>
          <a:custGeom>
            <a:avLst/>
            <a:gdLst/>
            <a:ahLst/>
            <a:cxnLst/>
            <a:rect l="l" t="t" r="r" b="b"/>
            <a:pathLst>
              <a:path w="1761970" h="447100">
                <a:moveTo>
                  <a:pt x="0" y="0"/>
                </a:moveTo>
                <a:lnTo>
                  <a:pt x="1761970" y="0"/>
                </a:lnTo>
                <a:lnTo>
                  <a:pt x="1761970" y="447100"/>
                </a:lnTo>
                <a:lnTo>
                  <a:pt x="0" y="447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flipH="1">
            <a:off x="1028700" y="8660342"/>
            <a:ext cx="1761970" cy="447100"/>
          </a:xfrm>
          <a:custGeom>
            <a:avLst/>
            <a:gdLst/>
            <a:ahLst/>
            <a:cxnLst/>
            <a:rect l="l" t="t" r="r" b="b"/>
            <a:pathLst>
              <a:path w="1761970" h="447100">
                <a:moveTo>
                  <a:pt x="1761970" y="0"/>
                </a:moveTo>
                <a:lnTo>
                  <a:pt x="0" y="0"/>
                </a:lnTo>
                <a:lnTo>
                  <a:pt x="0" y="447100"/>
                </a:lnTo>
                <a:lnTo>
                  <a:pt x="1761970" y="447100"/>
                </a:lnTo>
                <a:lnTo>
                  <a:pt x="176197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1174" y="916892"/>
            <a:ext cx="8453215" cy="84532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785959" y="916892"/>
            <a:ext cx="8453215" cy="845321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89225" y="1701761"/>
            <a:ext cx="1443312" cy="1599238"/>
          </a:xfrm>
          <a:custGeom>
            <a:avLst/>
            <a:gdLst/>
            <a:ahLst/>
            <a:cxnLst/>
            <a:rect l="l" t="t" r="r" b="b"/>
            <a:pathLst>
              <a:path w="1443312" h="1599238">
                <a:moveTo>
                  <a:pt x="0" y="0"/>
                </a:moveTo>
                <a:lnTo>
                  <a:pt x="1443312" y="0"/>
                </a:lnTo>
                <a:lnTo>
                  <a:pt x="1443312" y="1599238"/>
                </a:lnTo>
                <a:lnTo>
                  <a:pt x="0" y="1599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815988" y="7192770"/>
            <a:ext cx="1443312" cy="1599238"/>
          </a:xfrm>
          <a:custGeom>
            <a:avLst/>
            <a:gdLst/>
            <a:ahLst/>
            <a:cxnLst/>
            <a:rect l="l" t="t" r="r" b="b"/>
            <a:pathLst>
              <a:path w="1443312" h="1599238">
                <a:moveTo>
                  <a:pt x="0" y="0"/>
                </a:moveTo>
                <a:lnTo>
                  <a:pt x="1443312" y="0"/>
                </a:lnTo>
                <a:lnTo>
                  <a:pt x="1443312" y="1599237"/>
                </a:lnTo>
                <a:lnTo>
                  <a:pt x="0" y="15992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528166" y="8249945"/>
            <a:ext cx="508889" cy="1507820"/>
          </a:xfrm>
          <a:custGeom>
            <a:avLst/>
            <a:gdLst/>
            <a:ahLst/>
            <a:cxnLst/>
            <a:rect l="l" t="t" r="r" b="b"/>
            <a:pathLst>
              <a:path w="508889" h="1507820">
                <a:moveTo>
                  <a:pt x="0" y="0"/>
                </a:moveTo>
                <a:lnTo>
                  <a:pt x="508889" y="0"/>
                </a:lnTo>
                <a:lnTo>
                  <a:pt x="508889" y="1507821"/>
                </a:lnTo>
                <a:lnTo>
                  <a:pt x="0" y="1507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5497330" y="1028700"/>
            <a:ext cx="1761970" cy="447100"/>
          </a:xfrm>
          <a:custGeom>
            <a:avLst/>
            <a:gdLst/>
            <a:ahLst/>
            <a:cxnLst/>
            <a:rect l="l" t="t" r="r" b="b"/>
            <a:pathLst>
              <a:path w="1761970" h="447100">
                <a:moveTo>
                  <a:pt x="0" y="0"/>
                </a:moveTo>
                <a:lnTo>
                  <a:pt x="1761970" y="0"/>
                </a:lnTo>
                <a:lnTo>
                  <a:pt x="1761970" y="447100"/>
                </a:lnTo>
                <a:lnTo>
                  <a:pt x="0" y="447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4647016" y="438795"/>
            <a:ext cx="8993967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00"/>
              </a:lnSpc>
            </a:pPr>
            <a:r>
              <a:rPr lang="en-US" sz="9200" b="1" dirty="0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References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CD32CB-5798-C387-6A58-19A5C3ED31EE}"/>
              </a:ext>
            </a:extLst>
          </p:cNvPr>
          <p:cNvSpPr txBox="1"/>
          <p:nvPr/>
        </p:nvSpPr>
        <p:spPr>
          <a:xfrm>
            <a:off x="3009211" y="2045770"/>
            <a:ext cx="12268200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 err="1"/>
              <a:t>Acar</a:t>
            </a:r>
            <a:r>
              <a:rPr lang="en-US" sz="2500" dirty="0"/>
              <a:t>, T., </a:t>
            </a:r>
            <a:r>
              <a:rPr lang="en-US" sz="2500" dirty="0" err="1"/>
              <a:t>Belenkiy</a:t>
            </a:r>
            <a:r>
              <a:rPr lang="en-US" sz="2500" dirty="0"/>
              <a:t>, M., and Goldwasser, S. “Efficient Techniques for Secure Cloud Computing.” </a:t>
            </a:r>
            <a:r>
              <a:rPr lang="en-US" sz="2500" i="1" dirty="0"/>
              <a:t>IEEE Xplore</a:t>
            </a:r>
            <a:r>
              <a:rPr lang="en-US" sz="2500" dirty="0"/>
              <a:t>, 2019, </a:t>
            </a:r>
            <a:r>
              <a:rPr lang="en-US" sz="2500" dirty="0">
                <a:hlinkClick r:id="rId8"/>
              </a:rPr>
              <a:t>https://ieeexplore.ieee.org</a:t>
            </a:r>
            <a:r>
              <a:rPr lang="en-US" sz="25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Amazon Web Services. “Shared Responsibility Model.” </a:t>
            </a:r>
            <a:r>
              <a:rPr lang="en-US" sz="2500" i="1" dirty="0"/>
              <a:t>Amazon Web Services</a:t>
            </a:r>
            <a:r>
              <a:rPr lang="en-US" sz="2500" dirty="0"/>
              <a:t>, </a:t>
            </a:r>
            <a:r>
              <a:rPr lang="en-US" sz="2500" dirty="0">
                <a:hlinkClick r:id="rId9"/>
              </a:rPr>
              <a:t>https://aws.amazon.com/compliance/shared-responsibility-model</a:t>
            </a:r>
            <a:r>
              <a:rPr lang="en-US" sz="2500" dirty="0"/>
              <a:t>. Accessed 25 Nov. 2024.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IBM Security. </a:t>
            </a:r>
            <a:r>
              <a:rPr lang="en-US" sz="2500" i="1" dirty="0"/>
              <a:t>Cost of a Data Breach Report</a:t>
            </a:r>
            <a:r>
              <a:rPr lang="en-US" sz="2500" dirty="0"/>
              <a:t>. IBM, 2023, https://</a:t>
            </a:r>
            <a:r>
              <a:rPr lang="en-US" sz="2500" dirty="0" err="1"/>
              <a:t>www.ibm.com</a:t>
            </a:r>
            <a:r>
              <a:rPr lang="en-US" sz="2500" dirty="0"/>
              <a:t>/security/data-breach.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Microsoft Azure. “What Is Cloud Security?” </a:t>
            </a:r>
            <a:r>
              <a:rPr lang="en-US" sz="2500" i="1" dirty="0"/>
              <a:t>Microsoft Azure</a:t>
            </a:r>
            <a:r>
              <a:rPr lang="en-US" sz="2500" dirty="0"/>
              <a:t>, </a:t>
            </a:r>
            <a:r>
              <a:rPr lang="en-US" sz="2500" dirty="0">
                <a:hlinkClick r:id="rId10"/>
              </a:rPr>
              <a:t>https://azure.microsoft.com</a:t>
            </a:r>
            <a:r>
              <a:rPr lang="en-US" sz="2500" dirty="0"/>
              <a:t>. Accessed 25 Nov. 2024.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National Institute of Standards and Technology (NIST). </a:t>
            </a:r>
            <a:r>
              <a:rPr lang="en-US" sz="2500" i="1" dirty="0"/>
              <a:t>Special Publication 800-144: Guidelines on Security and Privacy in Public Cloud Computing</a:t>
            </a:r>
            <a:r>
              <a:rPr lang="en-US" sz="2500" dirty="0"/>
              <a:t>. NIST, 2011, </a:t>
            </a:r>
            <a:r>
              <a:rPr lang="en-US" sz="2500" dirty="0">
                <a:hlinkClick r:id="rId11"/>
              </a:rPr>
              <a:t>https://nvlpubs.nist.gov</a:t>
            </a:r>
            <a:r>
              <a:rPr lang="en-US" sz="25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 err="1"/>
              <a:t>Rittinghouse</a:t>
            </a:r>
            <a:r>
              <a:rPr lang="en-US" sz="2500" dirty="0"/>
              <a:t>, John W., and James F. Ransome. </a:t>
            </a:r>
            <a:r>
              <a:rPr lang="en-US" sz="2500" i="1" dirty="0"/>
              <a:t>Cloud Computing: Implementation, Management, and Security</a:t>
            </a:r>
            <a:r>
              <a:rPr lang="en-US" sz="2500" dirty="0"/>
              <a:t>. CRC Press, 2017.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Stallings, William. </a:t>
            </a:r>
            <a:r>
              <a:rPr lang="en-US" sz="2500" i="1" dirty="0"/>
              <a:t>Network Security Essentials: Applications and Standards</a:t>
            </a:r>
            <a:r>
              <a:rPr lang="en-US" sz="2500" dirty="0"/>
              <a:t>. 6th ed., Pearson, 2017.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 err="1"/>
              <a:t>Takabi</a:t>
            </a:r>
            <a:r>
              <a:rPr lang="en-US" sz="2500" dirty="0"/>
              <a:t>, Hassan, et al. “Security and Privacy Challenges in Cloud Computing Environments.” </a:t>
            </a:r>
            <a:r>
              <a:rPr lang="en-US" sz="2500" i="1" dirty="0"/>
              <a:t>IEEE Security &amp; Privacy</a:t>
            </a:r>
            <a:r>
              <a:rPr lang="en-US" sz="2500" dirty="0"/>
              <a:t>, vol. 8, no. 6, 2010, pp. 24–31.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Verizon. </a:t>
            </a:r>
            <a:r>
              <a:rPr lang="en-US" sz="2500" i="1" dirty="0"/>
              <a:t>Data Breach Investigations Report (DBIR)</a:t>
            </a:r>
            <a:r>
              <a:rPr lang="en-US" sz="2500" dirty="0"/>
              <a:t>. Verizon, 2023, https://</a:t>
            </a:r>
            <a:r>
              <a:rPr lang="en-US" sz="2500" dirty="0" err="1"/>
              <a:t>www.verizon.com</a:t>
            </a:r>
            <a:r>
              <a:rPr lang="en-US" sz="2500" dirty="0"/>
              <a:t>/business/resources/reports/</a:t>
            </a:r>
            <a:r>
              <a:rPr lang="en-US" sz="2500" dirty="0" err="1"/>
              <a:t>dbir</a:t>
            </a:r>
            <a:r>
              <a:rPr lang="en-US" sz="2500" dirty="0"/>
              <a:t>.</a:t>
            </a:r>
          </a:p>
          <a:p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364202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1027</Words>
  <Application>Microsoft Macintosh PowerPoint</Application>
  <PresentationFormat>Custom</PresentationFormat>
  <Paragraphs>148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Poppins Bold</vt:lpstr>
      <vt:lpstr>Arial</vt:lpstr>
      <vt:lpstr>Inter Heavy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Private Cloud Model: AWS s3 creation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Purple And Yellow Illustrative Cloud Migration Services Presentation</dc:title>
  <cp:lastModifiedBy>Vincent Fealy</cp:lastModifiedBy>
  <cp:revision>5</cp:revision>
  <dcterms:created xsi:type="dcterms:W3CDTF">2006-08-16T00:00:00Z</dcterms:created>
  <dcterms:modified xsi:type="dcterms:W3CDTF">2024-12-04T19:00:23Z</dcterms:modified>
  <dc:identifier>DAGYHen5JNg</dc:identifier>
</cp:coreProperties>
</file>